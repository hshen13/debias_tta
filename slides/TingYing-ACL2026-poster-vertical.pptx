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930366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25" d="100"/>
          <a:sy n="25" d="100"/>
        </p:scale>
        <p:origin x="1158" y="-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7775" y="7005156"/>
            <a:ext cx="24908114" cy="14902051"/>
          </a:xfrm>
        </p:spPr>
        <p:txBody>
          <a:bodyPr anchor="b"/>
          <a:lstStyle>
            <a:lvl1pPr algn="ctr">
              <a:defRPr sz="192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62958" y="22481887"/>
            <a:ext cx="21977747" cy="10334331"/>
          </a:xfrm>
        </p:spPr>
        <p:txBody>
          <a:bodyPr/>
          <a:lstStyle>
            <a:lvl1pPr marL="0" indent="0" algn="ctr">
              <a:buNone/>
              <a:defRPr sz="7691"/>
            </a:lvl1pPr>
            <a:lvl2pPr marL="1465189" indent="0" algn="ctr">
              <a:buNone/>
              <a:defRPr sz="6409"/>
            </a:lvl2pPr>
            <a:lvl3pPr marL="2930378" indent="0" algn="ctr">
              <a:buNone/>
              <a:defRPr sz="5768"/>
            </a:lvl3pPr>
            <a:lvl4pPr marL="4395567" indent="0" algn="ctr">
              <a:buNone/>
              <a:defRPr sz="5128"/>
            </a:lvl4pPr>
            <a:lvl5pPr marL="5860755" indent="0" algn="ctr">
              <a:buNone/>
              <a:defRPr sz="5128"/>
            </a:lvl5pPr>
            <a:lvl6pPr marL="7325944" indent="0" algn="ctr">
              <a:buNone/>
              <a:defRPr sz="5128"/>
            </a:lvl6pPr>
            <a:lvl7pPr marL="8791133" indent="0" algn="ctr">
              <a:buNone/>
              <a:defRPr sz="5128"/>
            </a:lvl7pPr>
            <a:lvl8pPr marL="10256322" indent="0" algn="ctr">
              <a:buNone/>
              <a:defRPr sz="5128"/>
            </a:lvl8pPr>
            <a:lvl9pPr marL="11721511" indent="0" algn="ctr">
              <a:buNone/>
              <a:defRPr sz="512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33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51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9366" y="10671229"/>
            <a:ext cx="25274409" cy="17805173"/>
          </a:xfrm>
        </p:spPr>
        <p:txBody>
          <a:bodyPr anchor="b"/>
          <a:lstStyle>
            <a:lvl1pPr>
              <a:defRPr sz="192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9366" y="28644846"/>
            <a:ext cx="25274409" cy="9363320"/>
          </a:xfrm>
        </p:spPr>
        <p:txBody>
          <a:bodyPr/>
          <a:lstStyle>
            <a:lvl1pPr marL="0" indent="0">
              <a:buNone/>
              <a:defRPr sz="7691">
                <a:solidFill>
                  <a:schemeClr val="tx1"/>
                </a:solidFill>
              </a:defRPr>
            </a:lvl1pPr>
            <a:lvl2pPr marL="1465189" indent="0">
              <a:buNone/>
              <a:defRPr sz="6409">
                <a:solidFill>
                  <a:schemeClr val="tx1">
                    <a:tint val="75000"/>
                  </a:schemeClr>
                </a:solidFill>
              </a:defRPr>
            </a:lvl2pPr>
            <a:lvl3pPr marL="2930378" indent="0">
              <a:buNone/>
              <a:defRPr sz="5768">
                <a:solidFill>
                  <a:schemeClr val="tx1">
                    <a:tint val="75000"/>
                  </a:schemeClr>
                </a:solidFill>
              </a:defRPr>
            </a:lvl3pPr>
            <a:lvl4pPr marL="4395567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4pPr>
            <a:lvl5pPr marL="5860755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5pPr>
            <a:lvl6pPr marL="7325944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6pPr>
            <a:lvl7pPr marL="8791133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7pPr>
            <a:lvl8pPr marL="10256322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8pPr>
            <a:lvl9pPr marL="11721511" indent="0">
              <a:buNone/>
              <a:defRPr sz="51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68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14627" y="11394520"/>
            <a:ext cx="12454057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34979" y="11394520"/>
            <a:ext cx="12454057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92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444" y="2278913"/>
            <a:ext cx="25274409" cy="82734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8447" y="10492870"/>
            <a:ext cx="12396821" cy="5142393"/>
          </a:xfrm>
        </p:spPr>
        <p:txBody>
          <a:bodyPr anchor="b"/>
          <a:lstStyle>
            <a:lvl1pPr marL="0" indent="0">
              <a:buNone/>
              <a:defRPr sz="7691" b="1"/>
            </a:lvl1pPr>
            <a:lvl2pPr marL="1465189" indent="0">
              <a:buNone/>
              <a:defRPr sz="6409" b="1"/>
            </a:lvl2pPr>
            <a:lvl3pPr marL="2930378" indent="0">
              <a:buNone/>
              <a:defRPr sz="5768" b="1"/>
            </a:lvl3pPr>
            <a:lvl4pPr marL="4395567" indent="0">
              <a:buNone/>
              <a:defRPr sz="5128" b="1"/>
            </a:lvl4pPr>
            <a:lvl5pPr marL="5860755" indent="0">
              <a:buNone/>
              <a:defRPr sz="5128" b="1"/>
            </a:lvl5pPr>
            <a:lvl6pPr marL="7325944" indent="0">
              <a:buNone/>
              <a:defRPr sz="5128" b="1"/>
            </a:lvl6pPr>
            <a:lvl7pPr marL="8791133" indent="0">
              <a:buNone/>
              <a:defRPr sz="5128" b="1"/>
            </a:lvl7pPr>
            <a:lvl8pPr marL="10256322" indent="0">
              <a:buNone/>
              <a:defRPr sz="5128" b="1"/>
            </a:lvl8pPr>
            <a:lvl9pPr marL="11721511" indent="0">
              <a:buNone/>
              <a:defRPr sz="512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8447" y="15635264"/>
            <a:ext cx="12396821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34981" y="10492870"/>
            <a:ext cx="12457874" cy="5142393"/>
          </a:xfrm>
        </p:spPr>
        <p:txBody>
          <a:bodyPr anchor="b"/>
          <a:lstStyle>
            <a:lvl1pPr marL="0" indent="0">
              <a:buNone/>
              <a:defRPr sz="7691" b="1"/>
            </a:lvl1pPr>
            <a:lvl2pPr marL="1465189" indent="0">
              <a:buNone/>
              <a:defRPr sz="6409" b="1"/>
            </a:lvl2pPr>
            <a:lvl3pPr marL="2930378" indent="0">
              <a:buNone/>
              <a:defRPr sz="5768" b="1"/>
            </a:lvl3pPr>
            <a:lvl4pPr marL="4395567" indent="0">
              <a:buNone/>
              <a:defRPr sz="5128" b="1"/>
            </a:lvl4pPr>
            <a:lvl5pPr marL="5860755" indent="0">
              <a:buNone/>
              <a:defRPr sz="5128" b="1"/>
            </a:lvl5pPr>
            <a:lvl6pPr marL="7325944" indent="0">
              <a:buNone/>
              <a:defRPr sz="5128" b="1"/>
            </a:lvl6pPr>
            <a:lvl7pPr marL="8791133" indent="0">
              <a:buNone/>
              <a:defRPr sz="5128" b="1"/>
            </a:lvl7pPr>
            <a:lvl8pPr marL="10256322" indent="0">
              <a:buNone/>
              <a:defRPr sz="5128" b="1"/>
            </a:lvl8pPr>
            <a:lvl9pPr marL="11721511" indent="0">
              <a:buNone/>
              <a:defRPr sz="512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34981" y="15635264"/>
            <a:ext cx="12457874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34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3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6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444" y="2853584"/>
            <a:ext cx="9451194" cy="9987545"/>
          </a:xfrm>
        </p:spPr>
        <p:txBody>
          <a:bodyPr anchor="b"/>
          <a:lstStyle>
            <a:lvl1pPr>
              <a:defRPr sz="102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7874" y="6162959"/>
            <a:ext cx="14834979" cy="30418415"/>
          </a:xfrm>
        </p:spPr>
        <p:txBody>
          <a:bodyPr/>
          <a:lstStyle>
            <a:lvl1pPr>
              <a:defRPr sz="10255"/>
            </a:lvl1pPr>
            <a:lvl2pPr>
              <a:defRPr sz="8973"/>
            </a:lvl2pPr>
            <a:lvl3pPr>
              <a:defRPr sz="7691"/>
            </a:lvl3pPr>
            <a:lvl4pPr>
              <a:defRPr sz="6409"/>
            </a:lvl4pPr>
            <a:lvl5pPr>
              <a:defRPr sz="6409"/>
            </a:lvl5pPr>
            <a:lvl6pPr>
              <a:defRPr sz="6409"/>
            </a:lvl6pPr>
            <a:lvl7pPr>
              <a:defRPr sz="6409"/>
            </a:lvl7pPr>
            <a:lvl8pPr>
              <a:defRPr sz="6409"/>
            </a:lvl8pPr>
            <a:lvl9pPr>
              <a:defRPr sz="640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8444" y="12841129"/>
            <a:ext cx="9451194" cy="23789780"/>
          </a:xfrm>
        </p:spPr>
        <p:txBody>
          <a:bodyPr/>
          <a:lstStyle>
            <a:lvl1pPr marL="0" indent="0">
              <a:buNone/>
              <a:defRPr sz="5128"/>
            </a:lvl1pPr>
            <a:lvl2pPr marL="1465189" indent="0">
              <a:buNone/>
              <a:defRPr sz="4487"/>
            </a:lvl2pPr>
            <a:lvl3pPr marL="2930378" indent="0">
              <a:buNone/>
              <a:defRPr sz="3846"/>
            </a:lvl3pPr>
            <a:lvl4pPr marL="4395567" indent="0">
              <a:buNone/>
              <a:defRPr sz="3205"/>
            </a:lvl4pPr>
            <a:lvl5pPr marL="5860755" indent="0">
              <a:buNone/>
              <a:defRPr sz="3205"/>
            </a:lvl5pPr>
            <a:lvl6pPr marL="7325944" indent="0">
              <a:buNone/>
              <a:defRPr sz="3205"/>
            </a:lvl6pPr>
            <a:lvl7pPr marL="8791133" indent="0">
              <a:buNone/>
              <a:defRPr sz="3205"/>
            </a:lvl7pPr>
            <a:lvl8pPr marL="10256322" indent="0">
              <a:buNone/>
              <a:defRPr sz="3205"/>
            </a:lvl8pPr>
            <a:lvl9pPr marL="11721511" indent="0">
              <a:buNone/>
              <a:defRPr sz="32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42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444" y="2853584"/>
            <a:ext cx="9451194" cy="9987545"/>
          </a:xfrm>
        </p:spPr>
        <p:txBody>
          <a:bodyPr anchor="b"/>
          <a:lstStyle>
            <a:lvl1pPr>
              <a:defRPr sz="102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57874" y="6162959"/>
            <a:ext cx="14834979" cy="30418415"/>
          </a:xfrm>
        </p:spPr>
        <p:txBody>
          <a:bodyPr anchor="t"/>
          <a:lstStyle>
            <a:lvl1pPr marL="0" indent="0">
              <a:buNone/>
              <a:defRPr sz="10255"/>
            </a:lvl1pPr>
            <a:lvl2pPr marL="1465189" indent="0">
              <a:buNone/>
              <a:defRPr sz="8973"/>
            </a:lvl2pPr>
            <a:lvl3pPr marL="2930378" indent="0">
              <a:buNone/>
              <a:defRPr sz="7691"/>
            </a:lvl3pPr>
            <a:lvl4pPr marL="4395567" indent="0">
              <a:buNone/>
              <a:defRPr sz="6409"/>
            </a:lvl4pPr>
            <a:lvl5pPr marL="5860755" indent="0">
              <a:buNone/>
              <a:defRPr sz="6409"/>
            </a:lvl5pPr>
            <a:lvl6pPr marL="7325944" indent="0">
              <a:buNone/>
              <a:defRPr sz="6409"/>
            </a:lvl6pPr>
            <a:lvl7pPr marL="8791133" indent="0">
              <a:buNone/>
              <a:defRPr sz="6409"/>
            </a:lvl7pPr>
            <a:lvl8pPr marL="10256322" indent="0">
              <a:buNone/>
              <a:defRPr sz="6409"/>
            </a:lvl8pPr>
            <a:lvl9pPr marL="11721511" indent="0">
              <a:buNone/>
              <a:defRPr sz="640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8444" y="12841129"/>
            <a:ext cx="9451194" cy="23789780"/>
          </a:xfrm>
        </p:spPr>
        <p:txBody>
          <a:bodyPr/>
          <a:lstStyle>
            <a:lvl1pPr marL="0" indent="0">
              <a:buNone/>
              <a:defRPr sz="5128"/>
            </a:lvl1pPr>
            <a:lvl2pPr marL="1465189" indent="0">
              <a:buNone/>
              <a:defRPr sz="4487"/>
            </a:lvl2pPr>
            <a:lvl3pPr marL="2930378" indent="0">
              <a:buNone/>
              <a:defRPr sz="3846"/>
            </a:lvl3pPr>
            <a:lvl4pPr marL="4395567" indent="0">
              <a:buNone/>
              <a:defRPr sz="3205"/>
            </a:lvl4pPr>
            <a:lvl5pPr marL="5860755" indent="0">
              <a:buNone/>
              <a:defRPr sz="3205"/>
            </a:lvl5pPr>
            <a:lvl6pPr marL="7325944" indent="0">
              <a:buNone/>
              <a:defRPr sz="3205"/>
            </a:lvl6pPr>
            <a:lvl7pPr marL="8791133" indent="0">
              <a:buNone/>
              <a:defRPr sz="3205"/>
            </a:lvl7pPr>
            <a:lvl8pPr marL="10256322" indent="0">
              <a:buNone/>
              <a:defRPr sz="3205"/>
            </a:lvl8pPr>
            <a:lvl9pPr marL="11721511" indent="0">
              <a:buNone/>
              <a:defRPr sz="32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79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607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70436" y="2278904"/>
            <a:ext cx="6318602" cy="362742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14629" y="2278904"/>
            <a:ext cx="18589511" cy="362742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76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4627" y="2278913"/>
            <a:ext cx="25274409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627" y="11394520"/>
            <a:ext cx="25274409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4627" y="39672756"/>
            <a:ext cx="659332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E3901-7756-430A-A07F-B4A40E18993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06839" y="39672756"/>
            <a:ext cx="9889986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695712" y="39672756"/>
            <a:ext cx="659332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A9503-0329-44AB-A12A-1CFD71CB54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02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30378" rtl="0" eaLnBrk="1" latinLnBrk="0" hangingPunct="1">
        <a:lnSpc>
          <a:spcPct val="90000"/>
        </a:lnSpc>
        <a:spcBef>
          <a:spcPct val="0"/>
        </a:spcBef>
        <a:buNone/>
        <a:defRPr sz="141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2594" indent="-732594" algn="l" defTabSz="2930378" rtl="0" eaLnBrk="1" latinLnBrk="0" hangingPunct="1">
        <a:lnSpc>
          <a:spcPct val="90000"/>
        </a:lnSpc>
        <a:spcBef>
          <a:spcPts val="3205"/>
        </a:spcBef>
        <a:buFont typeface="Arial" panose="020B0604020202020204" pitchFamily="34" charset="0"/>
        <a:buChar char="•"/>
        <a:defRPr sz="8973" kern="1200">
          <a:solidFill>
            <a:schemeClr val="tx1"/>
          </a:solidFill>
          <a:latin typeface="+mn-lt"/>
          <a:ea typeface="+mn-ea"/>
          <a:cs typeface="+mn-cs"/>
        </a:defRPr>
      </a:lvl1pPr>
      <a:lvl2pPr marL="2197783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7691" kern="1200">
          <a:solidFill>
            <a:schemeClr val="tx1"/>
          </a:solidFill>
          <a:latin typeface="+mn-lt"/>
          <a:ea typeface="+mn-ea"/>
          <a:cs typeface="+mn-cs"/>
        </a:defRPr>
      </a:lvl2pPr>
      <a:lvl3pPr marL="3662972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6409" kern="1200">
          <a:solidFill>
            <a:schemeClr val="tx1"/>
          </a:solidFill>
          <a:latin typeface="+mn-lt"/>
          <a:ea typeface="+mn-ea"/>
          <a:cs typeface="+mn-cs"/>
        </a:defRPr>
      </a:lvl3pPr>
      <a:lvl4pPr marL="5128161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4pPr>
      <a:lvl5pPr marL="6593350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5pPr>
      <a:lvl6pPr marL="8058539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6pPr>
      <a:lvl7pPr marL="9523727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7pPr>
      <a:lvl8pPr marL="10988916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8pPr>
      <a:lvl9pPr marL="12454105" indent="-732594" algn="l" defTabSz="2930378" rtl="0" eaLnBrk="1" latinLnBrk="0" hangingPunct="1">
        <a:lnSpc>
          <a:spcPct val="90000"/>
        </a:lnSpc>
        <a:spcBef>
          <a:spcPts val="1602"/>
        </a:spcBef>
        <a:buFont typeface="Arial" panose="020B0604020202020204" pitchFamily="34" charset="0"/>
        <a:buChar char="•"/>
        <a:defRPr sz="57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1pPr>
      <a:lvl2pPr marL="1465189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2pPr>
      <a:lvl3pPr marL="2930378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3pPr>
      <a:lvl4pPr marL="4395567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4pPr>
      <a:lvl5pPr marL="5860755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5pPr>
      <a:lvl6pPr marL="7325944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6pPr>
      <a:lvl7pPr marL="8791133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7pPr>
      <a:lvl8pPr marL="10256322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8pPr>
      <a:lvl9pPr marL="11721511" algn="l" defTabSz="2930378" rtl="0" eaLnBrk="1" latinLnBrk="0" hangingPunct="1">
        <a:defRPr sz="57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28" Type="http://schemas.openxmlformats.org/officeDocument/2006/relationships/image" Target="../media/image27.sv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0ED1382-03EB-4F42-B63D-3584E30DA90B}"/>
              </a:ext>
            </a:extLst>
          </p:cNvPr>
          <p:cNvGrpSpPr/>
          <p:nvPr/>
        </p:nvGrpSpPr>
        <p:grpSpPr>
          <a:xfrm>
            <a:off x="0" y="41201224"/>
            <a:ext cx="29303663" cy="1602538"/>
            <a:chOff x="523" y="3292062"/>
            <a:chExt cx="6887114" cy="89039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5FB608D-221E-437F-A7ED-1DB0A78BC890}"/>
                </a:ext>
              </a:extLst>
            </p:cNvPr>
            <p:cNvSpPr/>
            <p:nvPr/>
          </p:nvSpPr>
          <p:spPr>
            <a:xfrm>
              <a:off x="523" y="3292062"/>
              <a:ext cx="6887114" cy="89039"/>
            </a:xfrm>
            <a:prstGeom prst="rect">
              <a:avLst/>
            </a:prstGeom>
            <a:gradFill flip="none" rotWithShape="1">
              <a:gsLst>
                <a:gs pos="100000">
                  <a:schemeClr val="bg1"/>
                </a:gs>
                <a:gs pos="3000">
                  <a:srgbClr val="BCDCDE">
                    <a:alpha val="87843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4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E3BF872-1297-4F71-A774-3372DCA33EF9}"/>
                </a:ext>
              </a:extLst>
            </p:cNvPr>
            <p:cNvSpPr txBox="1"/>
            <p:nvPr/>
          </p:nvSpPr>
          <p:spPr>
            <a:xfrm>
              <a:off x="3110680" y="3313496"/>
              <a:ext cx="3738594" cy="46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hs907@scarletmail.rutgers.edu, nlp2ct.shanshan@gmail.com</a:t>
              </a:r>
              <a:endParaRPr lang="zh-CN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D2C7188B-338D-41C3-B0EB-E323E3496A50}"/>
              </a:ext>
            </a:extLst>
          </p:cNvPr>
          <p:cNvSpPr/>
          <p:nvPr/>
        </p:nvSpPr>
        <p:spPr>
          <a:xfrm>
            <a:off x="0" y="-138046"/>
            <a:ext cx="29303663" cy="9434446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3000">
                <a:srgbClr val="BCDCDE">
                  <a:alpha val="87843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8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Shape 1">
            <a:extLst>
              <a:ext uri="{FF2B5EF4-FFF2-40B4-BE49-F238E27FC236}">
                <a16:creationId xmlns:a16="http://schemas.microsoft.com/office/drawing/2014/main" id="{A44A92F8-EF4F-49C3-A29C-D70974F9F33C}"/>
              </a:ext>
            </a:extLst>
          </p:cNvPr>
          <p:cNvSpPr txBox="1"/>
          <p:nvPr/>
        </p:nvSpPr>
        <p:spPr>
          <a:xfrm>
            <a:off x="-1" y="3909330"/>
            <a:ext cx="29303663" cy="4301803"/>
          </a:xfrm>
          <a:prstGeom prst="rect">
            <a:avLst/>
          </a:prstGeom>
          <a:noFill/>
          <a:ln>
            <a:noFill/>
          </a:ln>
        </p:spPr>
        <p:txBody>
          <a:bodyPr lIns="61083" tIns="30578" rIns="61083" bIns="30578" anchor="ctr">
            <a:noAutofit/>
          </a:bodyPr>
          <a:lstStyle/>
          <a:p>
            <a:pPr algn="ctr"/>
            <a:r>
              <a:rPr lang="en-US" altLang="zh-CN" sz="6000" b="1" dirty="0">
                <a:latin typeface="Comic Sans MS" panose="030F0702030302020204" pitchFamily="66" charset="0"/>
              </a:rPr>
              <a:t>CAP-TTA: Preconditioned Test-Time Adaptation </a:t>
            </a:r>
            <a:br>
              <a:rPr lang="en-US" altLang="zh-CN" sz="6000" b="1" dirty="0">
                <a:latin typeface="Comic Sans MS" panose="030F0702030302020204" pitchFamily="66" charset="0"/>
              </a:rPr>
            </a:br>
            <a:r>
              <a:rPr lang="en-US" altLang="zh-CN" sz="6000" b="1" dirty="0">
                <a:latin typeface="Comic Sans MS" panose="030F0702030302020204" pitchFamily="66" charset="0"/>
              </a:rPr>
              <a:t>for </a:t>
            </a:r>
            <a:r>
              <a:rPr lang="en-US" altLang="zh-CN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Out-of-Distribution Debiasing </a:t>
            </a:r>
            <a:r>
              <a:rPr lang="en-US" altLang="zh-CN" sz="6000" b="1" dirty="0">
                <a:latin typeface="Comic Sans MS" panose="030F0702030302020204" pitchFamily="66" charset="0"/>
              </a:rPr>
              <a:t>in </a:t>
            </a:r>
            <a:br>
              <a:rPr lang="en-US" altLang="zh-CN" sz="6000" b="1" dirty="0">
                <a:latin typeface="Comic Sans MS" panose="030F0702030302020204" pitchFamily="66" charset="0"/>
              </a:rPr>
            </a:br>
            <a:r>
              <a:rPr lang="en-US" altLang="zh-CN" sz="60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Narrative Generation</a:t>
            </a:r>
          </a:p>
          <a:p>
            <a:pPr algn="ctr"/>
            <a:r>
              <a:rPr lang="en-US" sz="4000" dirty="0">
                <a:ea typeface="Calibri" panose="020F0502020204030204" pitchFamily="34" charset="-122"/>
                <a:cs typeface="Calibri" panose="020F0502020204030204" pitchFamily="34" charset="-120"/>
              </a:rPr>
              <a:t>Hanwen Shen¹*  ·  Ting Ying²*  ·  </a:t>
            </a:r>
            <a:r>
              <a:rPr lang="en-US" sz="4000" dirty="0" err="1">
                <a:ea typeface="Calibri" panose="020F0502020204030204" pitchFamily="34" charset="-122"/>
                <a:cs typeface="Calibri" panose="020F0502020204030204" pitchFamily="34" charset="-120"/>
              </a:rPr>
              <a:t>Jiajie</a:t>
            </a:r>
            <a:r>
              <a:rPr lang="en-US" sz="4000" dirty="0">
                <a:ea typeface="Calibri" panose="020F0502020204030204" pitchFamily="34" charset="-122"/>
                <a:cs typeface="Calibri" panose="020F0502020204030204" pitchFamily="34" charset="-120"/>
              </a:rPr>
              <a:t> Lu¹  ·  Shanshan Wang³†</a:t>
            </a:r>
            <a:endParaRPr lang="en-US" sz="4000" dirty="0"/>
          </a:p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¹ AI in Math Education Lab Stevens Institute of Technology   ·   ² Independent Researcher   ·   ³ NLP²CT Lab, University of Macau</a:t>
            </a:r>
            <a:endParaRPr lang="en-US" sz="3600" dirty="0"/>
          </a:p>
        </p:txBody>
      </p:sp>
      <p:cxnSp>
        <p:nvCxnSpPr>
          <p:cNvPr id="20" name="Straight Connector 8">
            <a:extLst>
              <a:ext uri="{FF2B5EF4-FFF2-40B4-BE49-F238E27FC236}">
                <a16:creationId xmlns:a16="http://schemas.microsoft.com/office/drawing/2014/main" id="{8657DD82-E9BC-488A-B98F-45DB77E520A6}"/>
              </a:ext>
            </a:extLst>
          </p:cNvPr>
          <p:cNvCxnSpPr>
            <a:cxnSpLocks/>
          </p:cNvCxnSpPr>
          <p:nvPr/>
        </p:nvCxnSpPr>
        <p:spPr bwMode="auto">
          <a:xfrm>
            <a:off x="632122" y="14599174"/>
            <a:ext cx="28096174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35D5601-97CF-4255-832D-CC4AC1361967}"/>
              </a:ext>
            </a:extLst>
          </p:cNvPr>
          <p:cNvSpPr txBox="1"/>
          <p:nvPr/>
        </p:nvSpPr>
        <p:spPr>
          <a:xfrm>
            <a:off x="514899" y="8076527"/>
            <a:ext cx="1587485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Background &amp; Alignment in Narrative Generation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Bias is dynamic.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counts as biased varies across cultures, eras, and contexts — static models and benchmarks miss emergent biases.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Static debiasing breaks under shift.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 learn fixed patterns offline, but bias drifts with prompts at deployment, degrading under OOD conditions.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Perfect debiasing kills narrative.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"perfectly unbiased" model can't portray a biased character — we want one that adapts dynamically, not one merely told not to discriminate.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850F14-6FAF-489D-9A54-644F8B00F6F2}"/>
              </a:ext>
            </a:extLst>
          </p:cNvPr>
          <p:cNvSpPr txBox="1"/>
          <p:nvPr/>
        </p:nvSpPr>
        <p:spPr>
          <a:xfrm>
            <a:off x="24304619" y="19860078"/>
            <a:ext cx="4754143" cy="664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en-US" altLang="zh-CN" sz="48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Algorithm</a:t>
            </a:r>
            <a:endParaRPr lang="en-US" altLang="zh-CN" sz="36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-242874" algn="just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Stay close to the base model p0 while cutting unsafe-output risk. Cast debiasing as a KL projection q* = 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argmin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KL(q || p0) under expected-risk ≤ τ. Closed form is exponential tilting q*(y) ∝ p0(y)·exp(−β·b(y)): down-weight unsafe (high-b) sequences, up-weight safe ones.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42874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the Fisher matrix for local curvature; solving the trust-region subproblem gives δ* = −η·I⁻¹·g. Since inverse-Fisher is intractable, apply a diagonal preconditioner P, giving ϕₜ₊₁ = ϕₜ − α·</a:t>
            </a:r>
            <a:r>
              <a:rPr lang="en-US" sz="20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P·g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High-curvature directions take smaller steps for stability.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42874" algn="just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zh-CN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C25EBEB-B786-41A0-AB99-A011A4B56326}"/>
              </a:ext>
            </a:extLst>
          </p:cNvPr>
          <p:cNvSpPr txBox="1"/>
          <p:nvPr/>
        </p:nvSpPr>
        <p:spPr>
          <a:xfrm>
            <a:off x="24193291" y="14579095"/>
            <a:ext cx="51586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en-US" altLang="zh-CN" sz="48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Metrics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a toxicity committee comprising three models: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roberta_toxicity_classifier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unitary/toxic-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unitary/unbiased-toxic-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trigger score is the mean of these three. For offline evaluation, we use: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grammarly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detexd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henryscheible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stereoset_trainer_robertabase_finetuned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Narrativa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distilroberta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-finetuned-stereotype-detection.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bias score (BB Bias) is the mean of these three benchmark proxies. 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49F30BC-6DC7-4EA8-9D56-EAFA2C2EF489}"/>
              </a:ext>
            </a:extLst>
          </p:cNvPr>
          <p:cNvSpPr txBox="1"/>
          <p:nvPr/>
        </p:nvSpPr>
        <p:spPr>
          <a:xfrm>
            <a:off x="607351" y="25349198"/>
            <a:ext cx="2818713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en-US" altLang="zh-CN" sz="48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Three Difficulties and Methods</a:t>
            </a:r>
            <a:endParaRPr lang="en-US" altLang="zh-CN" sz="36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Difficulties to apply test-time alignment/adaptation to LLMs:</a:t>
            </a:r>
            <a:endParaRPr lang="en-US" sz="36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b="1" i="1" dirty="0"/>
              <a:t>Distribution Shift </a:t>
            </a:r>
            <a:r>
              <a:rPr lang="en-US" sz="3600" dirty="0"/>
              <a:t>of response between high-bias and low-bias inputs;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b="1" i="1" dirty="0"/>
              <a:t>Cold start problem </a:t>
            </a:r>
            <a:r>
              <a:rPr lang="en-US" sz="3600" dirty="0"/>
              <a:t>of efficient test-time training;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b="1" i="1" dirty="0"/>
              <a:t>Catastrophic Forgetting </a:t>
            </a:r>
            <a:r>
              <a:rPr lang="en-US" sz="3600" dirty="0"/>
              <a:t>(i.e., lower fluency) in test-time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Methods:</a:t>
            </a:r>
            <a:endParaRPr lang="en-US" sz="36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600" b="1" i="1" dirty="0"/>
              <a:t>Low-rank Adaptation (</a:t>
            </a:r>
            <a:r>
              <a:rPr lang="en-US" sz="3600" b="1" i="1" dirty="0" err="1"/>
              <a:t>LoRA</a:t>
            </a:r>
            <a:r>
              <a:rPr lang="en-US" sz="3600" b="1" i="1" dirty="0"/>
              <a:t>) </a:t>
            </a:r>
            <a:r>
              <a:rPr lang="en-US" sz="3600" dirty="0"/>
              <a:t>with routers and low-bias corpus to train LLMs;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600" b="1" i="1" dirty="0"/>
              <a:t>Preconditioned Matrix </a:t>
            </a:r>
            <a:r>
              <a:rPr lang="en-US" sz="3600" dirty="0"/>
              <a:t>to accelerate gradient descending in </a:t>
            </a:r>
            <a:r>
              <a:rPr lang="en-US" sz="3600" dirty="0" err="1"/>
              <a:t>LoRA</a:t>
            </a:r>
            <a:r>
              <a:rPr lang="en-US" sz="3600" dirty="0"/>
              <a:t>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3600" b="1" i="1" dirty="0"/>
              <a:t>Bias Trigger </a:t>
            </a:r>
            <a:r>
              <a:rPr lang="en-US" sz="3600" dirty="0"/>
              <a:t>to avoid unnecessary updates.</a:t>
            </a:r>
          </a:p>
        </p:txBody>
      </p:sp>
      <p:cxnSp>
        <p:nvCxnSpPr>
          <p:cNvPr id="32" name="Straight Connector 8">
            <a:extLst>
              <a:ext uri="{FF2B5EF4-FFF2-40B4-BE49-F238E27FC236}">
                <a16:creationId xmlns:a16="http://schemas.microsoft.com/office/drawing/2014/main" id="{1EE2A67C-621B-488E-8A50-3F49EA6306AB}"/>
              </a:ext>
            </a:extLst>
          </p:cNvPr>
          <p:cNvCxnSpPr>
            <a:cxnSpLocks/>
          </p:cNvCxnSpPr>
          <p:nvPr/>
        </p:nvCxnSpPr>
        <p:spPr bwMode="auto">
          <a:xfrm>
            <a:off x="692503" y="30885024"/>
            <a:ext cx="28187135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56345FCB-DC1E-4507-9962-411F4055A013}"/>
              </a:ext>
            </a:extLst>
          </p:cNvPr>
          <p:cNvSpPr txBox="1"/>
          <p:nvPr/>
        </p:nvSpPr>
        <p:spPr>
          <a:xfrm>
            <a:off x="-282893" y="37073082"/>
            <a:ext cx="4745479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B334B7C-DABC-4685-8909-3C08C7C00E89}"/>
              </a:ext>
            </a:extLst>
          </p:cNvPr>
          <p:cNvSpPr txBox="1"/>
          <p:nvPr/>
        </p:nvSpPr>
        <p:spPr>
          <a:xfrm>
            <a:off x="660689" y="31152800"/>
            <a:ext cx="14125382" cy="16312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Result about Fluency, Bias Score, Update Latency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CAP-TTA achieves a balance among low bias score, high fluency and fast update latency.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72C87C3-B676-4BF2-9BA4-4EBE9AC14E90}"/>
              </a:ext>
            </a:extLst>
          </p:cNvPr>
          <p:cNvSpPr txBox="1"/>
          <p:nvPr/>
        </p:nvSpPr>
        <p:spPr>
          <a:xfrm>
            <a:off x="16389764" y="31030267"/>
            <a:ext cx="4745479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Bias Router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E3D5DCA-948B-4D33-BD29-6F6D9A8BD9E6}"/>
              </a:ext>
            </a:extLst>
          </p:cNvPr>
          <p:cNvSpPr txBox="1"/>
          <p:nvPr/>
        </p:nvSpPr>
        <p:spPr>
          <a:xfrm>
            <a:off x="23295742" y="31146004"/>
            <a:ext cx="6331207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Trending over segments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A0080C9-2FB5-47BE-B1F8-554DF5F3F123}"/>
              </a:ext>
            </a:extLst>
          </p:cNvPr>
          <p:cNvSpPr txBox="1"/>
          <p:nvPr/>
        </p:nvSpPr>
        <p:spPr>
          <a:xfrm>
            <a:off x="16411312" y="37122697"/>
            <a:ext cx="4745479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Performance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E99C7D-EFD8-91A1-D5BC-5D7FC2616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29432"/>
            <a:ext cx="4219412" cy="4018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D81A61-8133-1EEC-0A83-4E72CF87C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4116" y="-88574"/>
            <a:ext cx="16649546" cy="3924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F75176-3910-47BF-3679-7ED2E9ABA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70" y="-149844"/>
            <a:ext cx="4142419" cy="4018350"/>
          </a:xfrm>
          <a:prstGeom prst="rect">
            <a:avLst/>
          </a:prstGeom>
        </p:spPr>
      </p:pic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45735A-13E2-DC24-AD6A-0C5B57F91218}"/>
              </a:ext>
            </a:extLst>
          </p:cNvPr>
          <p:cNvSpPr/>
          <p:nvPr/>
        </p:nvSpPr>
        <p:spPr>
          <a:xfrm>
            <a:off x="14332880" y="15611529"/>
            <a:ext cx="9673468" cy="9622527"/>
          </a:xfrm>
          <a:prstGeom prst="flowChartAlternate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C3E865-6EA3-4828-F4B4-6A53F44B0BE4}"/>
              </a:ext>
            </a:extLst>
          </p:cNvPr>
          <p:cNvSpPr/>
          <p:nvPr/>
        </p:nvSpPr>
        <p:spPr>
          <a:xfrm>
            <a:off x="19068266" y="19645508"/>
            <a:ext cx="4382110" cy="12093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Safe Corpus: {</a:t>
            </a:r>
            <a:r>
              <a:rPr lang="en-US" sz="3600" dirty="0" err="1"/>
              <a:t>Gender,Religion</a:t>
            </a:r>
            <a:r>
              <a:rPr lang="en-US" sz="3600" dirty="0"/>
              <a:t>,…} 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9CD567B6-E498-8011-2986-8DBC3B515ADC}"/>
              </a:ext>
            </a:extLst>
          </p:cNvPr>
          <p:cNvSpPr/>
          <p:nvPr/>
        </p:nvSpPr>
        <p:spPr>
          <a:xfrm>
            <a:off x="6383602" y="15662639"/>
            <a:ext cx="6849663" cy="9476114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B5373836-5B8E-0B56-A9B9-9358FC58EC8A}"/>
              </a:ext>
            </a:extLst>
          </p:cNvPr>
          <p:cNvSpPr/>
          <p:nvPr/>
        </p:nvSpPr>
        <p:spPr>
          <a:xfrm>
            <a:off x="885967" y="15855468"/>
            <a:ext cx="4410800" cy="9283285"/>
          </a:xfrm>
          <a:prstGeom prst="flowChartAlternateProcess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Flowchart: Alternate Process 17">
                <a:extLst>
                  <a:ext uri="{FF2B5EF4-FFF2-40B4-BE49-F238E27FC236}">
                    <a16:creationId xmlns:a16="http://schemas.microsoft.com/office/drawing/2014/main" id="{619E8F83-BD35-8E08-1009-EACBA8B44194}"/>
                  </a:ext>
                </a:extLst>
              </p:cNvPr>
              <p:cNvSpPr/>
              <p:nvPr/>
            </p:nvSpPr>
            <p:spPr>
              <a:xfrm>
                <a:off x="1641572" y="17714032"/>
                <a:ext cx="2677220" cy="1888879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Model Frozen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sz="3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600" b="0" i="1" dirty="0" smtClean="0">
                          <a:latin typeface="Cambria Math" panose="02040503050406030204" pitchFamily="18" charset="0"/>
                        </a:rPr>
                        <m:t>fixed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8" name="Flowchart: Alternate Process 17">
                <a:extLst>
                  <a:ext uri="{FF2B5EF4-FFF2-40B4-BE49-F238E27FC236}">
                    <a16:creationId xmlns:a16="http://schemas.microsoft.com/office/drawing/2014/main" id="{619E8F83-BD35-8E08-1009-EACBA8B441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572" y="17714032"/>
                <a:ext cx="2677220" cy="1888879"/>
              </a:xfrm>
              <a:prstGeom prst="flowChartAlternateProcess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Alternate Process 21">
                <a:extLst>
                  <a:ext uri="{FF2B5EF4-FFF2-40B4-BE49-F238E27FC236}">
                    <a16:creationId xmlns:a16="http://schemas.microsoft.com/office/drawing/2014/main" id="{DF9AC319-AAED-A703-13DB-BCD448EAB907}"/>
                  </a:ext>
                </a:extLst>
              </p:cNvPr>
              <p:cNvSpPr/>
              <p:nvPr/>
            </p:nvSpPr>
            <p:spPr>
              <a:xfrm>
                <a:off x="8209428" y="15976067"/>
                <a:ext cx="3008868" cy="717195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Prompt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2" name="Flowchart: Alternate Process 21">
                <a:extLst>
                  <a:ext uri="{FF2B5EF4-FFF2-40B4-BE49-F238E27FC236}">
                    <a16:creationId xmlns:a16="http://schemas.microsoft.com/office/drawing/2014/main" id="{DF9AC319-AAED-A703-13DB-BCD448EAB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428" y="15976067"/>
                <a:ext cx="3008868" cy="717195"/>
              </a:xfrm>
              <a:prstGeom prst="flowChartAlternateProcess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Flowchart: Alternate Process 24">
                <a:extLst>
                  <a:ext uri="{FF2B5EF4-FFF2-40B4-BE49-F238E27FC236}">
                    <a16:creationId xmlns:a16="http://schemas.microsoft.com/office/drawing/2014/main" id="{EADBF86D-EC28-1A4F-FA93-58512489B457}"/>
                  </a:ext>
                </a:extLst>
              </p:cNvPr>
              <p:cNvSpPr/>
              <p:nvPr/>
            </p:nvSpPr>
            <p:spPr>
              <a:xfrm>
                <a:off x="1656182" y="16165005"/>
                <a:ext cx="2677218" cy="767183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Prompt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5" name="Flowchart: Alternate Process 24">
                <a:extLst>
                  <a:ext uri="{FF2B5EF4-FFF2-40B4-BE49-F238E27FC236}">
                    <a16:creationId xmlns:a16="http://schemas.microsoft.com/office/drawing/2014/main" id="{EADBF86D-EC28-1A4F-FA93-58512489B4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82" y="16165005"/>
                <a:ext cx="2677218" cy="767183"/>
              </a:xfrm>
              <a:prstGeom prst="flowChartAlternateProcess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Flowchart: Alternate Process 25">
                <a:extLst>
                  <a:ext uri="{FF2B5EF4-FFF2-40B4-BE49-F238E27FC236}">
                    <a16:creationId xmlns:a16="http://schemas.microsoft.com/office/drawing/2014/main" id="{739CD52E-C0EE-9F96-6E14-7D497E6FDDA0}"/>
                  </a:ext>
                </a:extLst>
              </p:cNvPr>
              <p:cNvSpPr/>
              <p:nvPr/>
            </p:nvSpPr>
            <p:spPr>
              <a:xfrm>
                <a:off x="1630122" y="20722087"/>
                <a:ext cx="2677218" cy="767183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Generate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6" name="Flowchart: Alternate Process 25">
                <a:extLst>
                  <a:ext uri="{FF2B5EF4-FFF2-40B4-BE49-F238E27FC236}">
                    <a16:creationId xmlns:a16="http://schemas.microsoft.com/office/drawing/2014/main" id="{739CD52E-C0EE-9F96-6E14-7D497E6FDD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22" y="20722087"/>
                <a:ext cx="2677218" cy="767183"/>
              </a:xfrm>
              <a:prstGeom prst="flowChartAlternateProcess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Flowchart: Alternate Process 26">
                <a:extLst>
                  <a:ext uri="{FF2B5EF4-FFF2-40B4-BE49-F238E27FC236}">
                    <a16:creationId xmlns:a16="http://schemas.microsoft.com/office/drawing/2014/main" id="{52A816DC-0383-9AF4-D007-F576BB5BAA45}"/>
                  </a:ext>
                </a:extLst>
              </p:cNvPr>
              <p:cNvSpPr/>
              <p:nvPr/>
            </p:nvSpPr>
            <p:spPr>
              <a:xfrm>
                <a:off x="1880587" y="22813293"/>
                <a:ext cx="2083642" cy="767183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Output</a:t>
                </a:r>
                <a14:m>
                  <m:oMath xmlns:m="http://schemas.openxmlformats.org/officeDocument/2006/math">
                    <m:r>
                      <a:rPr lang="en-US" sz="3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27" name="Flowchart: Alternate Process 26">
                <a:extLst>
                  <a:ext uri="{FF2B5EF4-FFF2-40B4-BE49-F238E27FC236}">
                    <a16:creationId xmlns:a16="http://schemas.microsoft.com/office/drawing/2014/main" id="{52A816DC-0383-9AF4-D007-F576BB5BAA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587" y="22813293"/>
                <a:ext cx="2083642" cy="767183"/>
              </a:xfrm>
              <a:prstGeom prst="flowChartAlternateProcess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Flowchart: Alternate Process 27">
                <a:extLst>
                  <a:ext uri="{FF2B5EF4-FFF2-40B4-BE49-F238E27FC236}">
                    <a16:creationId xmlns:a16="http://schemas.microsoft.com/office/drawing/2014/main" id="{A28D6CB5-E507-65CA-C297-C1E87B59E464}"/>
                  </a:ext>
                </a:extLst>
              </p:cNvPr>
              <p:cNvSpPr/>
              <p:nvPr/>
            </p:nvSpPr>
            <p:spPr>
              <a:xfrm>
                <a:off x="8197632" y="17084962"/>
                <a:ext cx="3020636" cy="777587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i="1" dirty="0" smtClean="0">
                          <a:latin typeface="Cambria Math" panose="02040503050406030204" pitchFamily="18" charset="0"/>
                        </a:rPr>
                        <m:t>Generate</m:t>
                      </m:r>
                      <m:r>
                        <a:rPr lang="en-US" sz="3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3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sz="3600"/>
              </a:p>
            </p:txBody>
          </p:sp>
        </mc:Choice>
        <mc:Fallback xmlns="">
          <p:sp>
            <p:nvSpPr>
              <p:cNvPr id="28" name="Flowchart: Alternate Process 27">
                <a:extLst>
                  <a:ext uri="{FF2B5EF4-FFF2-40B4-BE49-F238E27FC236}">
                    <a16:creationId xmlns:a16="http://schemas.microsoft.com/office/drawing/2014/main" id="{A28D6CB5-E507-65CA-C297-C1E87B59E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632" y="17084962"/>
                <a:ext cx="3020636" cy="777587"/>
              </a:xfrm>
              <a:prstGeom prst="flowChartAlternateProcess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Flowchart: Alternate Process 28">
                <a:extLst>
                  <a:ext uri="{FF2B5EF4-FFF2-40B4-BE49-F238E27FC236}">
                    <a16:creationId xmlns:a16="http://schemas.microsoft.com/office/drawing/2014/main" id="{69EA185B-FE75-A90C-815A-C82AFBB42C28}"/>
                  </a:ext>
                </a:extLst>
              </p:cNvPr>
              <p:cNvSpPr/>
              <p:nvPr/>
            </p:nvSpPr>
            <p:spPr>
              <a:xfrm>
                <a:off x="8132993" y="18379106"/>
                <a:ext cx="3084387" cy="1106232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TTA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sz="36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600" b="0" i="1" dirty="0" smtClean="0">
                          <a:latin typeface="Cambria Math" panose="02040503050406030204" pitchFamily="18" charset="0"/>
                        </a:rPr>
                        <m:t>changed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9" name="Flowchart: Alternate Process 28">
                <a:extLst>
                  <a:ext uri="{FF2B5EF4-FFF2-40B4-BE49-F238E27FC236}">
                    <a16:creationId xmlns:a16="http://schemas.microsoft.com/office/drawing/2014/main" id="{69EA185B-FE75-A90C-815A-C82AFBB42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2993" y="18379106"/>
                <a:ext cx="3084387" cy="1106232"/>
              </a:xfrm>
              <a:prstGeom prst="flowChartAlternateProcess">
                <a:avLst/>
              </a:prstGeom>
              <a:blipFill>
                <a:blip r:embed="rId11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3785F48C-5B98-5DC5-326A-58569A8F20DC}"/>
              </a:ext>
            </a:extLst>
          </p:cNvPr>
          <p:cNvSpPr/>
          <p:nvPr/>
        </p:nvSpPr>
        <p:spPr>
          <a:xfrm>
            <a:off x="15111733" y="17073120"/>
            <a:ext cx="3398392" cy="9024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Precompute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DC04A02-F386-1833-E89A-0980B7457396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flipH="1">
            <a:off x="2922408" y="21489270"/>
            <a:ext cx="46323" cy="1324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FAA9D70-A8D4-45A7-9AFF-877E518172A7}"/>
              </a:ext>
            </a:extLst>
          </p:cNvPr>
          <p:cNvCxnSpPr>
            <a:cxnSpLocks/>
            <a:stCxn id="22" idx="2"/>
            <a:endCxn id="28" idx="0"/>
          </p:cNvCxnSpPr>
          <p:nvPr/>
        </p:nvCxnSpPr>
        <p:spPr>
          <a:xfrm flipH="1">
            <a:off x="9707950" y="16693262"/>
            <a:ext cx="5912" cy="391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729304A-ECEC-B243-8F85-57C49E57A9F5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9675187" y="17862549"/>
            <a:ext cx="32763" cy="516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Flowchart: Alternate Process 37">
                <a:extLst>
                  <a:ext uri="{FF2B5EF4-FFF2-40B4-BE49-F238E27FC236}">
                    <a16:creationId xmlns:a16="http://schemas.microsoft.com/office/drawing/2014/main" id="{2917A6C3-13F5-7A11-3A28-504438ABDA33}"/>
                  </a:ext>
                </a:extLst>
              </p:cNvPr>
              <p:cNvSpPr/>
              <p:nvPr/>
            </p:nvSpPr>
            <p:spPr>
              <a:xfrm>
                <a:off x="7784863" y="23116846"/>
                <a:ext cx="3084387" cy="1068949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sz="3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36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8" name="Flowchart: Alternate Process 37">
                <a:extLst>
                  <a:ext uri="{FF2B5EF4-FFF2-40B4-BE49-F238E27FC236}">
                    <a16:creationId xmlns:a16="http://schemas.microsoft.com/office/drawing/2014/main" id="{2917A6C3-13F5-7A11-3A28-504438ABDA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863" y="23116846"/>
                <a:ext cx="3084387" cy="1068949"/>
              </a:xfrm>
              <a:prstGeom prst="flowChartAlternateProcess">
                <a:avLst/>
              </a:prstGeom>
              <a:blipFill>
                <a:blip r:embed="rId12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Flowchart: Alternate Process 38">
                <a:extLst>
                  <a:ext uri="{FF2B5EF4-FFF2-40B4-BE49-F238E27FC236}">
                    <a16:creationId xmlns:a16="http://schemas.microsoft.com/office/drawing/2014/main" id="{ACA36E15-2705-E257-A59E-CA051D98F133}"/>
                  </a:ext>
                </a:extLst>
              </p:cNvPr>
              <p:cNvSpPr/>
              <p:nvPr/>
            </p:nvSpPr>
            <p:spPr>
              <a:xfrm>
                <a:off x="8105029" y="20632985"/>
                <a:ext cx="3084387" cy="891253"/>
              </a:xfrm>
              <a:prstGeom prst="flowChartAlternateProcess">
                <a:avLst/>
              </a:prstGeom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9" name="Flowchart: Alternate Process 38">
                <a:extLst>
                  <a:ext uri="{FF2B5EF4-FFF2-40B4-BE49-F238E27FC236}">
                    <a16:creationId xmlns:a16="http://schemas.microsoft.com/office/drawing/2014/main" id="{ACA36E15-2705-E257-A59E-CA051D98F1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029" y="20632985"/>
                <a:ext cx="3084387" cy="891253"/>
              </a:xfrm>
              <a:prstGeom prst="flowChartAlternateProcess">
                <a:avLst/>
              </a:prstGeom>
              <a:blipFill>
                <a:blip r:embed="rId13"/>
                <a:stretch>
                  <a:fillRect/>
                </a:stretch>
              </a:blip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Flowchart: Magnetic Disk 39">
                <a:extLst>
                  <a:ext uri="{FF2B5EF4-FFF2-40B4-BE49-F238E27FC236}">
                    <a16:creationId xmlns:a16="http://schemas.microsoft.com/office/drawing/2014/main" id="{CEFF9B9F-121D-00A9-330C-2AA91E2BD6CF}"/>
                  </a:ext>
                </a:extLst>
              </p:cNvPr>
              <p:cNvSpPr/>
              <p:nvPr/>
            </p:nvSpPr>
            <p:spPr>
              <a:xfrm>
                <a:off x="20190666" y="17063512"/>
                <a:ext cx="3128725" cy="902406"/>
              </a:xfrm>
              <a:prstGeom prst="flowChartMagneticDisk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Store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40" name="Flowchart: Magnetic Disk 39">
                <a:extLst>
                  <a:ext uri="{FF2B5EF4-FFF2-40B4-BE49-F238E27FC236}">
                    <a16:creationId xmlns:a16="http://schemas.microsoft.com/office/drawing/2014/main" id="{CEFF9B9F-121D-00A9-330C-2AA91E2BD6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0666" y="17063512"/>
                <a:ext cx="3128725" cy="902406"/>
              </a:xfrm>
              <a:prstGeom prst="flowChartMagneticDisk">
                <a:avLst/>
              </a:prstGeom>
              <a:blipFill>
                <a:blip r:embed="rId14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2D7FF2BD-5551-7E9B-56E5-19D7BA684203}"/>
              </a:ext>
            </a:extLst>
          </p:cNvPr>
          <p:cNvSpPr txBox="1"/>
          <p:nvPr/>
        </p:nvSpPr>
        <p:spPr>
          <a:xfrm>
            <a:off x="2109705" y="14923461"/>
            <a:ext cx="3017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+mj-lt"/>
              </a:rPr>
              <a:t>S</a:t>
            </a:r>
            <a:r>
              <a:rPr lang="en-US" altLang="zh-CN" sz="3600" b="1" dirty="0">
                <a:latin typeface="+mj-lt"/>
              </a:rPr>
              <a:t>tatic</a:t>
            </a:r>
            <a:r>
              <a:rPr lang="en-US" altLang="zh-CN" sz="3600" dirty="0">
                <a:latin typeface="+mj-lt"/>
              </a:rPr>
              <a:t> LLM</a:t>
            </a:r>
            <a:endParaRPr lang="en-US" sz="3600" dirty="0"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E1BFC5-8BF8-E656-1A55-7E2522373158}"/>
              </a:ext>
            </a:extLst>
          </p:cNvPr>
          <p:cNvSpPr txBox="1"/>
          <p:nvPr/>
        </p:nvSpPr>
        <p:spPr>
          <a:xfrm>
            <a:off x="8016528" y="14870976"/>
            <a:ext cx="5863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</a:t>
            </a:r>
            <a:r>
              <a:rPr lang="en-US" altLang="zh-CN" sz="3600" b="1" dirty="0"/>
              <a:t>rior TTA </a:t>
            </a:r>
            <a:r>
              <a:rPr lang="en-US" altLang="zh-CN" sz="3600" dirty="0"/>
              <a:t>LLM</a:t>
            </a:r>
            <a:endParaRPr lang="en-US" sz="3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B00C75-8202-14A0-6CA2-B9AC2F03C1C1}"/>
              </a:ext>
            </a:extLst>
          </p:cNvPr>
          <p:cNvSpPr txBox="1"/>
          <p:nvPr/>
        </p:nvSpPr>
        <p:spPr>
          <a:xfrm>
            <a:off x="17501226" y="14923461"/>
            <a:ext cx="5159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CAP-TTA</a:t>
            </a:r>
            <a:r>
              <a:rPr lang="en-US" sz="3600" dirty="0"/>
              <a:t> LLM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32BACB5-8F8A-5728-6212-2B67BD80287A}"/>
              </a:ext>
            </a:extLst>
          </p:cNvPr>
          <p:cNvCxnSpPr>
            <a:cxnSpLocks/>
          </p:cNvCxnSpPr>
          <p:nvPr/>
        </p:nvCxnSpPr>
        <p:spPr>
          <a:xfrm>
            <a:off x="5855048" y="14570658"/>
            <a:ext cx="0" cy="107785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24B8F61-A98D-6E9A-95AF-6C7EA19A82FC}"/>
              </a:ext>
            </a:extLst>
          </p:cNvPr>
          <p:cNvCxnSpPr>
            <a:cxnSpLocks/>
          </p:cNvCxnSpPr>
          <p:nvPr/>
        </p:nvCxnSpPr>
        <p:spPr>
          <a:xfrm>
            <a:off x="13764542" y="14660381"/>
            <a:ext cx="0" cy="107785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08FB826-F83D-EE70-86F0-03E10A13ABCC}"/>
              </a:ext>
            </a:extLst>
          </p:cNvPr>
          <p:cNvCxnSpPr>
            <a:stCxn id="39" idx="1"/>
            <a:endCxn id="29" idx="1"/>
          </p:cNvCxnSpPr>
          <p:nvPr/>
        </p:nvCxnSpPr>
        <p:spPr>
          <a:xfrm rot="10800000" flipH="1">
            <a:off x="8105029" y="18932222"/>
            <a:ext cx="27964" cy="2146390"/>
          </a:xfrm>
          <a:prstGeom prst="bentConnector3">
            <a:avLst>
              <a:gd name="adj1" fmla="val -8174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45A22A4-7247-BAC2-3070-6D583DCFD297}"/>
              </a:ext>
            </a:extLst>
          </p:cNvPr>
          <p:cNvCxnSpPr>
            <a:stCxn id="29" idx="2"/>
            <a:endCxn id="39" idx="0"/>
          </p:cNvCxnSpPr>
          <p:nvPr/>
        </p:nvCxnSpPr>
        <p:spPr>
          <a:xfrm flipH="1">
            <a:off x="9647223" y="19485338"/>
            <a:ext cx="27964" cy="1147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CE3AF1E-6860-7FF9-854E-23DA17149AAC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 flipH="1">
            <a:off x="2968731" y="19602911"/>
            <a:ext cx="11451" cy="1119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DE3AF2A-7613-ED6E-6CD8-0E3B936A5FB8}"/>
              </a:ext>
            </a:extLst>
          </p:cNvPr>
          <p:cNvCxnSpPr>
            <a:cxnSpLocks/>
            <a:stCxn id="25" idx="2"/>
            <a:endCxn id="18" idx="0"/>
          </p:cNvCxnSpPr>
          <p:nvPr/>
        </p:nvCxnSpPr>
        <p:spPr>
          <a:xfrm flipH="1">
            <a:off x="2980182" y="16932188"/>
            <a:ext cx="14609" cy="781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810BBD2-2ED2-8E4E-CE23-B8F9B394E543}"/>
              </a:ext>
            </a:extLst>
          </p:cNvPr>
          <p:cNvCxnSpPr>
            <a:cxnSpLocks/>
          </p:cNvCxnSpPr>
          <p:nvPr/>
        </p:nvCxnSpPr>
        <p:spPr>
          <a:xfrm>
            <a:off x="15604071" y="18535962"/>
            <a:ext cx="770454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F2BDC33-4825-6391-EB9B-FB7342770306}"/>
              </a:ext>
            </a:extLst>
          </p:cNvPr>
          <p:cNvSpPr txBox="1"/>
          <p:nvPr/>
        </p:nvSpPr>
        <p:spPr>
          <a:xfrm>
            <a:off x="18461434" y="16138245"/>
            <a:ext cx="1725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Offline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71ECD9-9035-9622-275F-D8602FF3B034}"/>
              </a:ext>
            </a:extLst>
          </p:cNvPr>
          <p:cNvCxnSpPr>
            <a:cxnSpLocks/>
            <a:stCxn id="33" idx="3"/>
            <a:endCxn id="40" idx="2"/>
          </p:cNvCxnSpPr>
          <p:nvPr/>
        </p:nvCxnSpPr>
        <p:spPr>
          <a:xfrm flipV="1">
            <a:off x="18510125" y="17514715"/>
            <a:ext cx="1680541" cy="9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Flowchart: Alternate Process 64">
                <a:extLst>
                  <a:ext uri="{FF2B5EF4-FFF2-40B4-BE49-F238E27FC236}">
                    <a16:creationId xmlns:a16="http://schemas.microsoft.com/office/drawing/2014/main" id="{6020357D-17F9-03ED-F3F6-A60D837E9DF6}"/>
                  </a:ext>
                </a:extLst>
              </p:cNvPr>
              <p:cNvSpPr/>
              <p:nvPr/>
            </p:nvSpPr>
            <p:spPr>
              <a:xfrm>
                <a:off x="15080166" y="21422801"/>
                <a:ext cx="3429886" cy="1567811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Bias Trigger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𝑆𝑐𝑜𝑟</m:t>
                      </m:r>
                      <m:r>
                        <a:rPr lang="en-US" sz="3600" i="1" dirty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5" name="Flowchart: Alternate Process 64">
                <a:extLst>
                  <a:ext uri="{FF2B5EF4-FFF2-40B4-BE49-F238E27FC236}">
                    <a16:creationId xmlns:a16="http://schemas.microsoft.com/office/drawing/2014/main" id="{6020357D-17F9-03ED-F3F6-A60D837E9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0166" y="21422801"/>
                <a:ext cx="3429886" cy="1567811"/>
              </a:xfrm>
              <a:prstGeom prst="flowChartAlternateProcess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Flowchart: Alternate Process 65">
            <a:extLst>
              <a:ext uri="{FF2B5EF4-FFF2-40B4-BE49-F238E27FC236}">
                <a16:creationId xmlns:a16="http://schemas.microsoft.com/office/drawing/2014/main" id="{EBD3E2F3-9E05-82F1-3192-7947AFE3E33D}"/>
              </a:ext>
            </a:extLst>
          </p:cNvPr>
          <p:cNvSpPr/>
          <p:nvPr/>
        </p:nvSpPr>
        <p:spPr>
          <a:xfrm>
            <a:off x="19058053" y="21687226"/>
            <a:ext cx="4382110" cy="107305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/>
              <a:t>Quick Adaptation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C5B9B2F-80B8-70A4-9631-BEA88732E730}"/>
              </a:ext>
            </a:extLst>
          </p:cNvPr>
          <p:cNvCxnSpPr>
            <a:cxnSpLocks/>
            <a:stCxn id="39" idx="3"/>
            <a:endCxn id="65" idx="1"/>
          </p:cNvCxnSpPr>
          <p:nvPr/>
        </p:nvCxnSpPr>
        <p:spPr>
          <a:xfrm>
            <a:off x="11189416" y="21078612"/>
            <a:ext cx="3890750" cy="112809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Flowchart: Alternate Process 67">
                <a:extLst>
                  <a:ext uri="{FF2B5EF4-FFF2-40B4-BE49-F238E27FC236}">
                    <a16:creationId xmlns:a16="http://schemas.microsoft.com/office/drawing/2014/main" id="{826C315E-F43B-B341-3778-38AA1F259C30}"/>
                  </a:ext>
                </a:extLst>
              </p:cNvPr>
              <p:cNvSpPr/>
              <p:nvPr/>
            </p:nvSpPr>
            <p:spPr>
              <a:xfrm>
                <a:off x="15051929" y="19597058"/>
                <a:ext cx="3458056" cy="1281111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/>
                  <a:t>Bias Router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𝐶𝑙𝑎𝑠𝑠𝑖𝑓𝑖𝑒𝑟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8" name="Flowchart: Alternate Process 67">
                <a:extLst>
                  <a:ext uri="{FF2B5EF4-FFF2-40B4-BE49-F238E27FC236}">
                    <a16:creationId xmlns:a16="http://schemas.microsoft.com/office/drawing/2014/main" id="{826C315E-F43B-B341-3778-38AA1F259C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1929" y="19597058"/>
                <a:ext cx="3458056" cy="1281111"/>
              </a:xfrm>
              <a:prstGeom prst="flowChartAlternateProcess">
                <a:avLst/>
              </a:prstGeom>
              <a:blipFill>
                <a:blip r:embed="rId16"/>
                <a:stretch>
                  <a:fillRect t="-3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B28A57C-80FC-8FE2-FCAB-1BFD66461EAE}"/>
              </a:ext>
            </a:extLst>
          </p:cNvPr>
          <p:cNvCxnSpPr>
            <a:cxnSpLocks/>
            <a:stCxn id="39" idx="3"/>
            <a:endCxn id="68" idx="1"/>
          </p:cNvCxnSpPr>
          <p:nvPr/>
        </p:nvCxnSpPr>
        <p:spPr>
          <a:xfrm flipV="1">
            <a:off x="11189416" y="20237614"/>
            <a:ext cx="3862513" cy="840998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DFBCB16-AF12-48B2-69FB-3111D4353018}"/>
              </a:ext>
            </a:extLst>
          </p:cNvPr>
          <p:cNvCxnSpPr>
            <a:cxnSpLocks/>
            <a:stCxn id="66" idx="2"/>
            <a:endCxn id="39" idx="2"/>
          </p:cNvCxnSpPr>
          <p:nvPr/>
        </p:nvCxnSpPr>
        <p:spPr>
          <a:xfrm rot="5400000" flipH="1">
            <a:off x="14830143" y="16341319"/>
            <a:ext cx="1236045" cy="11601885"/>
          </a:xfrm>
          <a:prstGeom prst="bentConnector3">
            <a:avLst>
              <a:gd name="adj1" fmla="val -18494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E4B7BED-5AFA-F250-B11B-2B94F8514C17}"/>
              </a:ext>
            </a:extLst>
          </p:cNvPr>
          <p:cNvCxnSpPr>
            <a:cxnSpLocks/>
            <a:stCxn id="68" idx="3"/>
            <a:endCxn id="13" idx="1"/>
          </p:cNvCxnSpPr>
          <p:nvPr/>
        </p:nvCxnSpPr>
        <p:spPr>
          <a:xfrm>
            <a:off x="18509985" y="20237614"/>
            <a:ext cx="558281" cy="12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6D0AD39-5662-8974-FD02-07C15E521EF5}"/>
              </a:ext>
            </a:extLst>
          </p:cNvPr>
          <p:cNvCxnSpPr>
            <a:cxnSpLocks/>
            <a:stCxn id="65" idx="3"/>
            <a:endCxn id="66" idx="1"/>
          </p:cNvCxnSpPr>
          <p:nvPr/>
        </p:nvCxnSpPr>
        <p:spPr>
          <a:xfrm>
            <a:off x="18510052" y="22206707"/>
            <a:ext cx="548001" cy="17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A398CF-E119-2ABF-A472-20495C49423B}"/>
              </a:ext>
            </a:extLst>
          </p:cNvPr>
          <p:cNvCxnSpPr>
            <a:cxnSpLocks/>
            <a:stCxn id="13" idx="2"/>
            <a:endCxn id="66" idx="0"/>
          </p:cNvCxnSpPr>
          <p:nvPr/>
        </p:nvCxnSpPr>
        <p:spPr>
          <a:xfrm flipH="1">
            <a:off x="21249108" y="20854856"/>
            <a:ext cx="10213" cy="83237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28D84BF9-8BB8-76D1-D0A4-C22B20EEA961}"/>
              </a:ext>
            </a:extLst>
          </p:cNvPr>
          <p:cNvCxnSpPr>
            <a:cxnSpLocks/>
            <a:stCxn id="40" idx="4"/>
            <a:endCxn id="66" idx="3"/>
          </p:cNvCxnSpPr>
          <p:nvPr/>
        </p:nvCxnSpPr>
        <p:spPr>
          <a:xfrm>
            <a:off x="23319391" y="17514715"/>
            <a:ext cx="120772" cy="4709040"/>
          </a:xfrm>
          <a:prstGeom prst="bentConnector3">
            <a:avLst>
              <a:gd name="adj1" fmla="val 2892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98EE250-0197-C65E-2D8E-F3433BF80831}"/>
              </a:ext>
            </a:extLst>
          </p:cNvPr>
          <p:cNvSpPr txBox="1"/>
          <p:nvPr/>
        </p:nvSpPr>
        <p:spPr>
          <a:xfrm>
            <a:off x="18612174" y="18810367"/>
            <a:ext cx="1702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Online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C430906-5CD5-E000-1B27-93E4DE815367}"/>
              </a:ext>
            </a:extLst>
          </p:cNvPr>
          <p:cNvCxnSpPr>
            <a:cxnSpLocks/>
          </p:cNvCxnSpPr>
          <p:nvPr/>
        </p:nvCxnSpPr>
        <p:spPr>
          <a:xfrm flipH="1">
            <a:off x="9350366" y="21523818"/>
            <a:ext cx="61061" cy="1610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DA1C2FCA-6197-5B5A-3016-92357EDD613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714603" y="32053232"/>
            <a:ext cx="5387275" cy="4826872"/>
          </a:xfrm>
          <a:prstGeom prst="rect">
            <a:avLst/>
          </a:prstGeom>
        </p:spPr>
      </p:pic>
      <p:pic>
        <p:nvPicPr>
          <p:cNvPr id="229" name="Picture 228">
            <a:extLst>
              <a:ext uri="{FF2B5EF4-FFF2-40B4-BE49-F238E27FC236}">
                <a16:creationId xmlns:a16="http://schemas.microsoft.com/office/drawing/2014/main" id="{0E1C9E82-BAFA-C02D-F488-7E02B90C52F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736300" y="36998373"/>
            <a:ext cx="5387275" cy="4571219"/>
          </a:xfrm>
          <a:prstGeom prst="rect">
            <a:avLst/>
          </a:prstGeom>
        </p:spPr>
      </p:pic>
      <p:pic>
        <p:nvPicPr>
          <p:cNvPr id="233" name="Picture 232">
            <a:extLst>
              <a:ext uri="{FF2B5EF4-FFF2-40B4-BE49-F238E27FC236}">
                <a16:creationId xmlns:a16="http://schemas.microsoft.com/office/drawing/2014/main" id="{6F0C2154-1F11-8001-69EA-63DAA53AD5D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8325" y="37989927"/>
            <a:ext cx="4382501" cy="3381367"/>
          </a:xfrm>
          <a:prstGeom prst="rect">
            <a:avLst/>
          </a:prstGeom>
        </p:spPr>
      </p:pic>
      <p:pic>
        <p:nvPicPr>
          <p:cNvPr id="235" name="Picture 234">
            <a:extLst>
              <a:ext uri="{FF2B5EF4-FFF2-40B4-BE49-F238E27FC236}">
                <a16:creationId xmlns:a16="http://schemas.microsoft.com/office/drawing/2014/main" id="{1EC28668-6452-0C43-84BC-CE449F5310C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6181" y="38035419"/>
            <a:ext cx="4484763" cy="3381367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B9F29C86-A9A2-5700-C168-8AC14F8121E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200324" y="31837768"/>
            <a:ext cx="9320700" cy="2628900"/>
          </a:xfrm>
          <a:prstGeom prst="rect">
            <a:avLst/>
          </a:prstGeom>
        </p:spPr>
      </p:pic>
      <p:sp>
        <p:nvSpPr>
          <p:cNvPr id="242" name="文本框 56">
            <a:extLst>
              <a:ext uri="{FF2B5EF4-FFF2-40B4-BE49-F238E27FC236}">
                <a16:creationId xmlns:a16="http://schemas.microsoft.com/office/drawing/2014/main" id="{3299D36C-3C81-E3E9-08E8-21936CCBE93E}"/>
              </a:ext>
            </a:extLst>
          </p:cNvPr>
          <p:cNvSpPr txBox="1"/>
          <p:nvPr/>
        </p:nvSpPr>
        <p:spPr>
          <a:xfrm>
            <a:off x="16411311" y="34327357"/>
            <a:ext cx="4745479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en-US" altLang="zh-CN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Human Evaluation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0194D355-1F69-5BAF-A310-AD3FB886A19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823" y="-88574"/>
            <a:ext cx="4069547" cy="40482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3E6FD02-6492-7CA4-4BAD-5CD95D179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62156" y="12713065"/>
            <a:ext cx="6200860" cy="168177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203A09-103D-1509-4197-4631A2D2E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34413" y="8269053"/>
            <a:ext cx="12354351" cy="61453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804319F-8655-63B1-FA67-B67907CF2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982950" y="25522600"/>
            <a:ext cx="13075812" cy="524458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527548-AB05-C86D-436F-70B10C742E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14898" y="32740783"/>
            <a:ext cx="13470150" cy="4567859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787E40E-22DF-689E-E284-8D8AA1B9E4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59806" y="37815593"/>
            <a:ext cx="13425241" cy="363064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B454339-0237-557C-7AA1-B52277117A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332879" y="35135219"/>
            <a:ext cx="9107283" cy="2173423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143CCC41-4711-B696-8C8D-9AE0F73917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105029" y="12774277"/>
            <a:ext cx="7233294" cy="168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7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675</TotalTime>
  <Words>531</Words>
  <Application>Microsoft Office PowerPoint</Application>
  <PresentationFormat>Custom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Cambria Math</vt:lpstr>
      <vt:lpstr>Comic Sans MS</vt:lpstr>
      <vt:lpstr>Times New Roman</vt:lpstr>
      <vt:lpstr>Wingdings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俊松 李</dc:creator>
  <cp:lastModifiedBy>Hanwen Shen</cp:lastModifiedBy>
  <cp:revision>55</cp:revision>
  <dcterms:created xsi:type="dcterms:W3CDTF">2026-01-11T07:00:07Z</dcterms:created>
  <dcterms:modified xsi:type="dcterms:W3CDTF">2026-06-03T11:07:42Z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2026-06-03T00:11:44Z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42e4c071-38ef-4e35-a57e-85c1d3b98c9b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
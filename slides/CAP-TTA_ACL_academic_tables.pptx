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86" r:id="rId5"/>
    <p:sldId id="270" r:id="rId6"/>
    <p:sldId id="283" r:id="rId7"/>
    <p:sldId id="271" r:id="rId8"/>
    <p:sldId id="274" r:id="rId9"/>
    <p:sldId id="273" r:id="rId10"/>
    <p:sldId id="275" r:id="rId11"/>
    <p:sldId id="284" r:id="rId12"/>
    <p:sldId id="288" r:id="rId13"/>
    <p:sldId id="278" r:id="rId14"/>
    <p:sldId id="279" r:id="rId15"/>
    <p:sldId id="287" r:id="rId16"/>
    <p:sldId id="285" r:id="rId17"/>
    <p:sldId id="28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8FFEA-6AC5-CB7A-C2C7-80B3685B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8EE46-CB43-A55B-F937-6B426F14D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C03CF-BA74-58AB-1B3C-997FC3613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E036-542E-7A90-B4AC-885DE94A0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0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356A-D43B-32B3-DDBF-0644BB8E8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08C2A-2220-C7AE-1BA2-90B4991B4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760FB-914D-DF08-8CDC-6CF58DC6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CED9E-1185-43D7-BBEE-39079138CD7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82CE-4659-C9D1-E017-B6A9BF0A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4219B-E116-F708-7A04-4E7BF6C0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2BCCA-7A21-4DD1-B996-E1CBE4EC7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7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0.png"/><Relationship Id="rId10" Type="http://schemas.openxmlformats.org/officeDocument/2006/relationships/image" Target="../media/image90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A63B99-B095-7B27-EDAE-95BD332AE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5408" y="5696313"/>
            <a:ext cx="10621927" cy="1655762"/>
          </a:xfrm>
        </p:spPr>
        <p:txBody>
          <a:bodyPr/>
          <a:lstStyle/>
          <a:p>
            <a:r>
              <a:rPr lang="en-US" sz="2000" dirty="0">
                <a:ea typeface="Calibri" panose="020F0502020204030204" pitchFamily="34" charset="-122"/>
                <a:cs typeface="Calibri" panose="020F0502020204030204" pitchFamily="34" charset="-120"/>
              </a:rPr>
              <a:t>Hanwen Shen¹*  ·  Ting Ying²*  ·  </a:t>
            </a:r>
            <a:r>
              <a:rPr lang="en-US" sz="2000" dirty="0" err="1">
                <a:ea typeface="Calibri" panose="020F0502020204030204" pitchFamily="34" charset="-122"/>
                <a:cs typeface="Calibri" panose="020F0502020204030204" pitchFamily="34" charset="-120"/>
              </a:rPr>
              <a:t>Jiajie</a:t>
            </a:r>
            <a:r>
              <a:rPr lang="en-US" sz="2000" dirty="0">
                <a:ea typeface="Calibri" panose="020F0502020204030204" pitchFamily="34" charset="-122"/>
                <a:cs typeface="Calibri" panose="020F0502020204030204" pitchFamily="34" charset="-120"/>
              </a:rPr>
              <a:t> Lu¹  ·  Shanshan Wang³†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4F7645-4B5E-A2A2-71D4-0054D4C8C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879" y="2385541"/>
            <a:ext cx="11770242" cy="2240889"/>
          </a:xfrm>
        </p:spPr>
        <p:txBody>
          <a:bodyPr/>
          <a:lstStyle/>
          <a:p>
            <a:r>
              <a:rPr lang="en-US" altLang="zh-CN" sz="4400" b="1" dirty="0"/>
              <a:t>CAP-TTA: Preconditioned Test-Time Adaptation </a:t>
            </a:r>
            <a:br>
              <a:rPr lang="en-US" altLang="zh-CN" sz="4400" b="1" dirty="0"/>
            </a:br>
            <a:r>
              <a:rPr lang="en-US" altLang="zh-CN" sz="4400" b="1" dirty="0"/>
              <a:t>for Out-of-Distribution Debiasing in </a:t>
            </a:r>
            <a:br>
              <a:rPr lang="en-US" altLang="zh-CN" sz="4400" b="1" dirty="0"/>
            </a:br>
            <a:r>
              <a:rPr lang="en-US" altLang="zh-CN" sz="4400" b="1" dirty="0">
                <a:solidFill>
                  <a:schemeClr val="accent2">
                    <a:lumMod val="75000"/>
                  </a:schemeClr>
                </a:solidFill>
              </a:rPr>
              <a:t>Narrative Generation</a:t>
            </a:r>
            <a:endParaRPr lang="en-US" sz="4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46D72BF-EA6D-66D7-F923-212E6B4EA25F}"/>
              </a:ext>
            </a:extLst>
          </p:cNvPr>
          <p:cNvSpPr/>
          <p:nvPr/>
        </p:nvSpPr>
        <p:spPr>
          <a:xfrm>
            <a:off x="1541521" y="6165855"/>
            <a:ext cx="97222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¹ AI in Math Education Lab, Stevens Institute of Technology   ·   ² Independent Researcher   ·   ³ NLP²CT Lab, University of Macau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2C890-67BC-9237-DD4D-2879B10F1D61}"/>
              </a:ext>
            </a:extLst>
          </p:cNvPr>
          <p:cNvSpPr txBox="1"/>
          <p:nvPr/>
        </p:nvSpPr>
        <p:spPr>
          <a:xfrm>
            <a:off x="4433775" y="5053922"/>
            <a:ext cx="3785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Presenter: Ting Ying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B8E4C0-6372-2776-04C3-29E03DC6C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" y="0"/>
            <a:ext cx="2210140" cy="21532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293314-ACFF-5E89-4B31-BCD8D0B8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732" y="122123"/>
            <a:ext cx="1832950" cy="18032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E43845-C0D9-73B5-3C08-D0DC52D3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999" y="0"/>
            <a:ext cx="7884001" cy="20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2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82188" y="2454910"/>
            <a:ext cx="840803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>
                <a:cs typeface="Times New Roman" panose="02020603050405020304" charset="0"/>
              </a:rPr>
              <a:t>In the end we shall make thoughtcrime literally impossible because there will be no words in which to express it.</a:t>
            </a:r>
          </a:p>
          <a:p>
            <a:r>
              <a:rPr lang="en-US" altLang="zh-CN" sz="3200" i="1" dirty="0">
                <a:cs typeface="Times New Roman" panose="02020603050405020304" charset="0"/>
              </a:rPr>
              <a:t>                                   ——1984, Newspeak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393825"/>
            <a:ext cx="2730500" cy="36906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802FC-1676-F247-8C5D-711592418C5D}"/>
              </a:ext>
            </a:extLst>
          </p:cNvPr>
          <p:cNvSpPr txBox="1"/>
          <p:nvPr/>
        </p:nvSpPr>
        <p:spPr>
          <a:xfrm>
            <a:off x="6985406" y="6488668"/>
            <a:ext cx="5114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https://jp.pinterest.com/pin/768286017685086731/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EBC92C-B499-ACD7-740B-34A80B75A7C6}"/>
              </a:ext>
            </a:extLst>
          </p:cNvPr>
          <p:cNvSpPr txBox="1"/>
          <p:nvPr/>
        </p:nvSpPr>
        <p:spPr>
          <a:xfrm>
            <a:off x="6490162" y="2150058"/>
            <a:ext cx="50717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Prompt: </a:t>
            </a:r>
          </a:p>
          <a:p>
            <a:r>
              <a:rPr lang="en-US" b="1" i="1" dirty="0"/>
              <a:t>Write a press about the whole life of George Floyd.</a:t>
            </a:r>
            <a:endParaRPr lang="en-US" b="1" i="1" dirty="0"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i="1" dirty="0">
                <a:cs typeface="Arial" panose="020B0604020202020204" pitchFamily="34" charset="0"/>
              </a:rPr>
              <a:t>Response: </a:t>
            </a:r>
          </a:p>
          <a:p>
            <a:pPr>
              <a:buNone/>
            </a:pPr>
            <a:r>
              <a:rPr lang="en-US" i="1" dirty="0">
                <a:cs typeface="Arial" panose="020B0604020202020204" pitchFamily="34" charset="0"/>
              </a:rPr>
              <a:t>" </a:t>
            </a:r>
            <a:r>
              <a:rPr lang="en-US" i="1" dirty="0"/>
              <a:t>Hardships and a Turning Point</a:t>
            </a:r>
          </a:p>
          <a:p>
            <a:pPr>
              <a:buNone/>
            </a:pPr>
            <a:r>
              <a:rPr lang="en-US" i="1" dirty="0"/>
              <a:t>2007 – 2013</a:t>
            </a:r>
          </a:p>
          <a:p>
            <a:pPr>
              <a:buNone/>
            </a:pPr>
            <a:r>
              <a:rPr lang="en-US" i="1" dirty="0"/>
              <a:t>Like many, Floyd </a:t>
            </a:r>
            <a:r>
              <a:rPr lang="en-US" i="1" dirty="0">
                <a:solidFill>
                  <a:srgbClr val="FF0000"/>
                </a:solidFill>
              </a:rPr>
              <a:t>faced a period of profound personal and legal challenges. </a:t>
            </a:r>
            <a:r>
              <a:rPr lang="en-US" i="1" dirty="0"/>
              <a:t>Following a conviction and a multi-year prison sentence, he emerged determined to re-architect his life. He returned to his community roots, heavily investing his time in a local church program called Resurrection Houston, aiming to break the cycle of incarceration for others.</a:t>
            </a:r>
            <a:r>
              <a:rPr lang="en-US" i="1" dirty="0">
                <a:cs typeface="Arial" panose="020B0604020202020204" pitchFamily="34" charset="0"/>
              </a:rPr>
              <a:t> "</a:t>
            </a:r>
            <a:endParaRPr lang="en-US" i="1" dirty="0"/>
          </a:p>
          <a:p>
            <a:pPr>
              <a:buNone/>
            </a:pPr>
            <a:endParaRPr lang="en-US" i="1" dirty="0"/>
          </a:p>
          <a:p>
            <a:pPr algn="r">
              <a:buNone/>
            </a:pPr>
            <a:r>
              <a:rPr lang="en-US" dirty="0"/>
              <a:t>—</a:t>
            </a:r>
            <a:r>
              <a:rPr lang="en-US" i="1" dirty="0"/>
              <a:t> Gemini 3.1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F76D6-1762-F575-EB64-9174AB307E68}"/>
              </a:ext>
            </a:extLst>
          </p:cNvPr>
          <p:cNvSpPr txBox="1"/>
          <p:nvPr/>
        </p:nvSpPr>
        <p:spPr>
          <a:xfrm>
            <a:off x="988665" y="2191547"/>
            <a:ext cx="40486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cs typeface="Arial" panose="020B0604020202020204" pitchFamily="34" charset="0"/>
              </a:rPr>
              <a:t>"While Floyd had long </a:t>
            </a:r>
            <a:r>
              <a:rPr lang="en-US" i="1" dirty="0">
                <a:solidFill>
                  <a:srgbClr val="FF0000"/>
                </a:solidFill>
                <a:cs typeface="Arial" panose="020B0604020202020204" pitchFamily="34" charset="0"/>
              </a:rPr>
              <a:t>feared dying</a:t>
            </a:r>
            <a:r>
              <a:rPr lang="en-US" i="1" dirty="0">
                <a:cs typeface="Arial" panose="020B0604020202020204" pitchFamily="34" charset="0"/>
              </a:rPr>
              <a:t> at the hands of police, his struggle to stay alive became more multifaceted as he suffered from a range of </a:t>
            </a:r>
            <a:r>
              <a:rPr lang="en-US" i="1" dirty="0">
                <a:solidFill>
                  <a:srgbClr val="FF0000"/>
                </a:solidFill>
                <a:cs typeface="Arial" panose="020B0604020202020204" pitchFamily="34" charset="0"/>
              </a:rPr>
              <a:t>maladies</a:t>
            </a:r>
            <a:r>
              <a:rPr lang="en-US" i="1" dirty="0">
                <a:cs typeface="Arial" panose="020B0604020202020204" pitchFamily="34" charset="0"/>
              </a:rPr>
              <a:t> that disproportionately cut short Black lives. In addition to COVID-19, he battled </a:t>
            </a:r>
            <a:r>
              <a:rPr lang="en-US" i="1" dirty="0">
                <a:solidFill>
                  <a:srgbClr val="FF0000"/>
                </a:solidFill>
                <a:cs typeface="Arial" panose="020B0604020202020204" pitchFamily="34" charset="0"/>
              </a:rPr>
              <a:t>claustrophobia</a:t>
            </a:r>
            <a:r>
              <a:rPr lang="en-US" i="1" dirty="0">
                <a:cs typeface="Arial" panose="020B0604020202020204" pitchFamily="34" charset="0"/>
              </a:rPr>
              <a:t>, high blood pressure, anxiety, and depression—ailments that for the most part went untreated—along with </a:t>
            </a:r>
            <a:r>
              <a:rPr lang="en-US" i="1" dirty="0">
                <a:solidFill>
                  <a:srgbClr val="FF0000"/>
                </a:solidFill>
                <a:cs typeface="Arial" panose="020B0604020202020204" pitchFamily="34" charset="0"/>
              </a:rPr>
              <a:t>drug dependency</a:t>
            </a:r>
            <a:r>
              <a:rPr lang="en-US" i="1" dirty="0">
                <a:cs typeface="Arial" panose="020B0604020202020204" pitchFamily="34" charset="0"/>
              </a:rPr>
              <a:t>.“</a:t>
            </a:r>
          </a:p>
          <a:p>
            <a:endParaRPr lang="en-US" i="1" dirty="0">
              <a:cs typeface="Arial" panose="020B0604020202020204" pitchFamily="34" charset="0"/>
            </a:endParaRPr>
          </a:p>
          <a:p>
            <a:pPr algn="r"/>
            <a:r>
              <a:rPr lang="en-US" dirty="0"/>
              <a:t>— </a:t>
            </a:r>
            <a:r>
              <a:rPr lang="en-US" i="1" dirty="0"/>
              <a:t>His Name Is George Floyd</a:t>
            </a:r>
            <a:endParaRPr lang="en-US" i="1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5AF68-8360-D247-6DF2-A2DB40F905CF}"/>
              </a:ext>
            </a:extLst>
          </p:cNvPr>
          <p:cNvSpPr txBox="1"/>
          <p:nvPr/>
        </p:nvSpPr>
        <p:spPr>
          <a:xfrm>
            <a:off x="5447480" y="6794274"/>
            <a:ext cx="254569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AI generated Narrative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3598F-78B7-BA3A-8015-E33DA837E574}"/>
              </a:ext>
            </a:extLst>
          </p:cNvPr>
          <p:cNvSpPr txBox="1"/>
          <p:nvPr/>
        </p:nvSpPr>
        <p:spPr>
          <a:xfrm>
            <a:off x="1174359" y="1369297"/>
            <a:ext cx="10631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Pulitzer Prize-Winning Narrative            </a:t>
            </a:r>
            <a:r>
              <a:rPr lang="en-US" altLang="zh-CN" sz="2400" dirty="0"/>
              <a:t>V.S.                 </a:t>
            </a:r>
            <a:r>
              <a:rPr lang="en-US" sz="2400" dirty="0"/>
              <a:t>AI generated Narrative</a:t>
            </a:r>
          </a:p>
          <a:p>
            <a:r>
              <a:rPr lang="en-US" altLang="zh-CN" sz="2000" dirty="0"/>
              <a:t>  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692B8-3644-D1A1-3F5A-F17641DF253F}"/>
              </a:ext>
            </a:extLst>
          </p:cNvPr>
          <p:cNvSpPr txBox="1"/>
          <p:nvPr/>
        </p:nvSpPr>
        <p:spPr>
          <a:xfrm>
            <a:off x="129396" y="163500"/>
            <a:ext cx="7768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+mj-lt"/>
              </a:rPr>
              <a:t>Alignment in Narrative Generation</a:t>
            </a:r>
          </a:p>
        </p:txBody>
      </p:sp>
    </p:spTree>
    <p:extLst>
      <p:ext uri="{BB962C8B-B14F-4D97-AF65-F5344CB8AC3E}">
        <p14:creationId xmlns:p14="http://schemas.microsoft.com/office/powerpoint/2010/main" val="261528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33989" y="2357001"/>
            <a:ext cx="7857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Over Alignment/No Alignment</a:t>
            </a:r>
          </a:p>
        </p:txBody>
      </p:sp>
      <p:sp>
        <p:nvSpPr>
          <p:cNvPr id="3" name="乘号 2"/>
          <p:cNvSpPr/>
          <p:nvPr/>
        </p:nvSpPr>
        <p:spPr>
          <a:xfrm>
            <a:off x="2385134" y="2741176"/>
            <a:ext cx="7591425" cy="1497300"/>
          </a:xfrm>
          <a:prstGeom prst="mathMultiply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15798"/>
            <a:ext cx="101859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+mj-lt"/>
                <a:cs typeface="Times New Roman" panose="02020603050405020304" charset="0"/>
              </a:rPr>
              <a:t>Concept: Test-time Alignment/Adaptation</a:t>
            </a:r>
            <a:endParaRPr lang="en-US" altLang="zh-CN" sz="4000" b="1" baseline="30000" dirty="0">
              <a:latin typeface="+mj-lt"/>
              <a:cs typeface="Times New Roman" panose="02020603050405020304" charset="0"/>
            </a:endParaRPr>
          </a:p>
          <a:p>
            <a:endParaRPr lang="en-US" altLang="zh-CN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05B50-910D-098D-6C68-BB0B362EF292}"/>
              </a:ext>
            </a:extLst>
          </p:cNvPr>
          <p:cNvSpPr txBox="1"/>
          <p:nvPr/>
        </p:nvSpPr>
        <p:spPr>
          <a:xfrm>
            <a:off x="563527" y="1779446"/>
            <a:ext cx="104879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[1]Yu Sun, Xiaolong Wang, Zhuang Liu, John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Miller,Alexei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Efros, and Moritz Hardt. 2020. Test-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timetraining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self-supervision for generalization un-der distribution shifts. In International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Conferenceon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Learning, pages 9229–9248. PMLR.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[2]Xiangyu Qi, Yi Zeng,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Tinghao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Xie, Pin-Yu Chen,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RuoxiJia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Prateek Mittal, and Peter Li. 2024. Fine-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tuningaligned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models compromises safety.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InThe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Twelfth International Conference on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LearningRepresentations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Shuaicheng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Niu,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Jiaxiang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Yifan Zhang,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YanhongZhi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Shijian Zheng, Peilin Zhao, and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Mingkui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Tan.2023. Towards stable test-time adaptation in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dynamicwild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world. In International Conference on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LearningRepresentations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[4]Nicholas Meade, Elinor Poole-Dayan, and Siva Reddy.2022. An empirical survey of the effectiveness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ofdebiasing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for pre-trained language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models.In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60th Annual Meeting of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theAssociation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Computational Linguistics (Volume1: Long Papers), pages 1878–1893.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37576"/>
            <a:ext cx="10065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+mj-lt"/>
              </a:rPr>
              <a:t>CAP-TTA: Preconditioned TTA for OOD Debiasing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FB943-B6E8-525F-1A75-7DE3566989B6}"/>
              </a:ext>
            </a:extLst>
          </p:cNvPr>
          <p:cNvSpPr txBox="1"/>
          <p:nvPr/>
        </p:nvSpPr>
        <p:spPr>
          <a:xfrm>
            <a:off x="744507" y="1414641"/>
            <a:ext cx="100650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Difficulties to apply test-time alignment/adaptation to LLMs: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1" dirty="0"/>
              <a:t>Distribution Shift </a:t>
            </a:r>
            <a:r>
              <a:rPr lang="en-US" sz="2000" dirty="0"/>
              <a:t>of response between high-bias and low-bias inputs;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1" dirty="0"/>
              <a:t>Cold start problem </a:t>
            </a:r>
            <a:r>
              <a:rPr lang="en-US" sz="2000" dirty="0"/>
              <a:t>of efficient test-time training;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1" dirty="0"/>
              <a:t>Catastrophic Forgetting </a:t>
            </a:r>
            <a:r>
              <a:rPr lang="en-US" sz="2000" dirty="0"/>
              <a:t>(i.e., lower fluency) in test-time training.</a:t>
            </a:r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Methods: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i="1" dirty="0"/>
              <a:t>Low-rank Adaptation (</a:t>
            </a:r>
            <a:r>
              <a:rPr lang="en-US" sz="2000" b="1" i="1" dirty="0" err="1"/>
              <a:t>LoRA</a:t>
            </a:r>
            <a:r>
              <a:rPr lang="en-US" sz="2000" b="1" i="1" dirty="0"/>
              <a:t>) </a:t>
            </a:r>
            <a:r>
              <a:rPr lang="en-US" sz="2000" dirty="0"/>
              <a:t>with routers and low-bias corpus to train LLMs;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i="1" dirty="0"/>
              <a:t>Preconditioned Matrix </a:t>
            </a:r>
            <a:r>
              <a:rPr lang="en-US" sz="2000" dirty="0"/>
              <a:t>to accelerate gradient descending in </a:t>
            </a:r>
            <a:r>
              <a:rPr lang="en-US" sz="2000" dirty="0" err="1"/>
              <a:t>LoRA</a:t>
            </a:r>
            <a:r>
              <a:rPr lang="en-US" sz="20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i="1" dirty="0"/>
              <a:t>Bias Trigger </a:t>
            </a:r>
            <a:r>
              <a:rPr lang="en-US" sz="2000" dirty="0"/>
              <a:t>to avoid unnecessary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4E5F22-EA3D-0429-2B63-0133D1AD1A16}"/>
              </a:ext>
            </a:extLst>
          </p:cNvPr>
          <p:cNvSpPr txBox="1"/>
          <p:nvPr/>
        </p:nvSpPr>
        <p:spPr>
          <a:xfrm>
            <a:off x="0" y="191923"/>
            <a:ext cx="815876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Preliminary: High Bias Prompts is OOD </a:t>
            </a:r>
          </a:p>
          <a:p>
            <a:pPr algn="ctr"/>
            <a:r>
              <a:rPr lang="en-US" b="1" dirty="0">
                <a:latin typeface="+mj-lt"/>
              </a:rPr>
              <a:t>in LLM compared to low bias prompts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A7252-0471-87FD-F1E0-9575D029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053" y="3121539"/>
            <a:ext cx="7262038" cy="2648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4B3572-6AA6-9607-BEF3-4F4AAD460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34" y="3620315"/>
            <a:ext cx="4244212" cy="1430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B3B10C-216B-51DA-6A26-2412204C33CB}"/>
              </a:ext>
            </a:extLst>
          </p:cNvPr>
          <p:cNvSpPr txBox="1"/>
          <p:nvPr/>
        </p:nvSpPr>
        <p:spPr>
          <a:xfrm>
            <a:off x="489097" y="1382001"/>
            <a:ext cx="11068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Compared to the Wikipedia corpus, prompts from </a:t>
            </a:r>
            <a:r>
              <a:rPr lang="en-US" sz="2000" dirty="0" err="1"/>
              <a:t>RealToxicityPrompts</a:t>
            </a:r>
            <a:r>
              <a:rPr lang="en-US" sz="2000" dirty="0"/>
              <a:t> can be viewed as OOD by different </a:t>
            </a:r>
            <a:r>
              <a:rPr lang="en-US" sz="2000" b="1" dirty="0">
                <a:solidFill>
                  <a:srgbClr val="FF0000"/>
                </a:solidFill>
              </a:rPr>
              <a:t>OOD detectors</a:t>
            </a:r>
            <a:r>
              <a:rPr lang="en-US" altLang="zh-CN" sz="2000" dirty="0"/>
              <a:t>. (left)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we input biased prompts to the LLMs, the bias score of the outputs will </a:t>
            </a:r>
            <a:r>
              <a:rPr lang="en-US" sz="2000" b="1" dirty="0"/>
              <a:t>increase</a:t>
            </a:r>
            <a:r>
              <a:rPr lang="en-US" sz="2000" dirty="0"/>
              <a:t> (right)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710BD-9825-9134-92E4-4159FD785EF6}"/>
              </a:ext>
            </a:extLst>
          </p:cNvPr>
          <p:cNvSpPr/>
          <p:nvPr/>
        </p:nvSpPr>
        <p:spPr>
          <a:xfrm>
            <a:off x="584791" y="4022971"/>
            <a:ext cx="1722475" cy="9250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F783F41-48FD-FB89-CFEE-6C5712EB7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286" y="3494620"/>
            <a:ext cx="4025016" cy="168177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872A41E-34A8-0C45-7CDE-9EC294D0E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2053" y="3121539"/>
            <a:ext cx="7262038" cy="278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7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A6372-019B-EA7F-5D8C-59AB4EDC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9B4B1131-A28B-38D6-D9FA-F8EE62DB6670}"/>
              </a:ext>
            </a:extLst>
          </p:cNvPr>
          <p:cNvSpPr/>
          <p:nvPr/>
        </p:nvSpPr>
        <p:spPr>
          <a:xfrm>
            <a:off x="6913037" y="1211765"/>
            <a:ext cx="4783661" cy="5130975"/>
          </a:xfrm>
          <a:prstGeom prst="flowChartAlternate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D5312599-B61E-E947-15AD-60CC813420BD}"/>
              </a:ext>
            </a:extLst>
          </p:cNvPr>
          <p:cNvSpPr/>
          <p:nvPr/>
        </p:nvSpPr>
        <p:spPr>
          <a:xfrm>
            <a:off x="9101893" y="3030935"/>
            <a:ext cx="2167013" cy="6448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Safe Corpus: {</a:t>
            </a:r>
            <a:r>
              <a:rPr lang="en-US" dirty="0" err="1"/>
              <a:t>Gender,Religion</a:t>
            </a:r>
            <a:r>
              <a:rPr lang="en-US" dirty="0"/>
              <a:t>,…} </a:t>
            </a:r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id="{F7F03712-BFCB-FD68-BE29-64C8B817C3B6}"/>
              </a:ext>
            </a:extLst>
          </p:cNvPr>
          <p:cNvSpPr/>
          <p:nvPr/>
        </p:nvSpPr>
        <p:spPr>
          <a:xfrm>
            <a:off x="3602869" y="1211765"/>
            <a:ext cx="2946094" cy="50925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D612D78-E55E-B65D-0ED6-83AA60510FF0}"/>
              </a:ext>
            </a:extLst>
          </p:cNvPr>
          <p:cNvSpPr/>
          <p:nvPr/>
        </p:nvSpPr>
        <p:spPr>
          <a:xfrm>
            <a:off x="577643" y="1211765"/>
            <a:ext cx="2404975" cy="5130975"/>
          </a:xfrm>
          <a:prstGeom prst="flowChartAlternateProcess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488D67C3-6586-68B3-4080-7ED070F6CC46}"/>
                  </a:ext>
                </a:extLst>
              </p:cNvPr>
              <p:cNvSpPr/>
              <p:nvPr/>
            </p:nvSpPr>
            <p:spPr>
              <a:xfrm>
                <a:off x="837687" y="2269087"/>
                <a:ext cx="1884885" cy="62217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Model Frozen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fixed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91F03920-E796-080F-554E-47C1E71D84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87" y="2269087"/>
                <a:ext cx="1884885" cy="622177"/>
              </a:xfrm>
              <a:prstGeom prst="flowChartAlternateProcess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19287781-5810-24D6-1F4C-0DB64410EFBE}"/>
                  </a:ext>
                </a:extLst>
              </p:cNvPr>
              <p:cNvSpPr/>
              <p:nvPr/>
            </p:nvSpPr>
            <p:spPr>
              <a:xfrm>
                <a:off x="4234143" y="1554099"/>
                <a:ext cx="1845548" cy="403371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Prompt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1BBB8929-855D-F525-AA9B-9FFF3BDFA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143" y="1554099"/>
                <a:ext cx="1845548" cy="403371"/>
              </a:xfrm>
              <a:prstGeom prst="flowChartAlternateProcess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Flowchart: Alternate Process 5">
                <a:extLst>
                  <a:ext uri="{FF2B5EF4-FFF2-40B4-BE49-F238E27FC236}">
                    <a16:creationId xmlns:a16="http://schemas.microsoft.com/office/drawing/2014/main" id="{D26E9F71-CCDB-F49E-C38E-56F877034B93}"/>
                  </a:ext>
                </a:extLst>
              </p:cNvPr>
              <p:cNvSpPr/>
              <p:nvPr/>
            </p:nvSpPr>
            <p:spPr>
              <a:xfrm>
                <a:off x="844652" y="1525684"/>
                <a:ext cx="1884884" cy="43644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Prompt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Flowchart: Alternate Process 5">
                <a:extLst>
                  <a:ext uri="{FF2B5EF4-FFF2-40B4-BE49-F238E27FC236}">
                    <a16:creationId xmlns:a16="http://schemas.microsoft.com/office/drawing/2014/main" id="{A747AB89-E5F5-F7B3-ACC3-59B7BEBED2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52" y="1525684"/>
                <a:ext cx="1884884" cy="436447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owchart: Alternate Process 6">
                <a:extLst>
                  <a:ext uri="{FF2B5EF4-FFF2-40B4-BE49-F238E27FC236}">
                    <a16:creationId xmlns:a16="http://schemas.microsoft.com/office/drawing/2014/main" id="{52158FAF-87DC-6B0E-2B25-92331161B70F}"/>
                  </a:ext>
                </a:extLst>
              </p:cNvPr>
              <p:cNvSpPr/>
              <p:nvPr/>
            </p:nvSpPr>
            <p:spPr>
              <a:xfrm>
                <a:off x="837687" y="3800184"/>
                <a:ext cx="1884884" cy="43644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Flowchart: Alternate Process 6">
                <a:extLst>
                  <a:ext uri="{FF2B5EF4-FFF2-40B4-BE49-F238E27FC236}">
                    <a16:creationId xmlns:a16="http://schemas.microsoft.com/office/drawing/2014/main" id="{B1876D9A-1BFD-7462-1D59-3D569B709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87" y="3800184"/>
                <a:ext cx="1884884" cy="436447"/>
              </a:xfrm>
              <a:prstGeom prst="flowChartAlternateProcess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Flowchart: Alternate Process 7">
                <a:extLst>
                  <a:ext uri="{FF2B5EF4-FFF2-40B4-BE49-F238E27FC236}">
                    <a16:creationId xmlns:a16="http://schemas.microsoft.com/office/drawing/2014/main" id="{79D6AC2F-34CD-FDF4-5B5E-8D6C6C255859}"/>
                  </a:ext>
                </a:extLst>
              </p:cNvPr>
              <p:cNvSpPr/>
              <p:nvPr/>
            </p:nvSpPr>
            <p:spPr>
              <a:xfrm>
                <a:off x="1034971" y="5418592"/>
                <a:ext cx="1466979" cy="43644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Output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Flowchart: Alternate Process 7">
                <a:extLst>
                  <a:ext uri="{FF2B5EF4-FFF2-40B4-BE49-F238E27FC236}">
                    <a16:creationId xmlns:a16="http://schemas.microsoft.com/office/drawing/2014/main" id="{7D2EAEF2-4C08-BE90-ABD2-C046626E6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971" y="5418592"/>
                <a:ext cx="1466979" cy="436447"/>
              </a:xfrm>
              <a:prstGeom prst="flowChartAlternateProcess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Alternate Process 8">
                <a:extLst>
                  <a:ext uri="{FF2B5EF4-FFF2-40B4-BE49-F238E27FC236}">
                    <a16:creationId xmlns:a16="http://schemas.microsoft.com/office/drawing/2014/main" id="{0BE52869-A990-DC4D-6FCE-F55F231F78A4}"/>
                  </a:ext>
                </a:extLst>
              </p:cNvPr>
              <p:cNvSpPr/>
              <p:nvPr/>
            </p:nvSpPr>
            <p:spPr>
              <a:xfrm>
                <a:off x="4226924" y="2281204"/>
                <a:ext cx="1852766" cy="43733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Generate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Flowchart: Alternate Process 8">
                <a:extLst>
                  <a:ext uri="{FF2B5EF4-FFF2-40B4-BE49-F238E27FC236}">
                    <a16:creationId xmlns:a16="http://schemas.microsoft.com/office/drawing/2014/main" id="{E9FDEDCF-EB6A-EB62-7D08-EB7CDBC31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924" y="2281204"/>
                <a:ext cx="1852766" cy="437337"/>
              </a:xfrm>
              <a:prstGeom prst="flowChartAlternateProcess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Alternate Process 9">
                <a:extLst>
                  <a:ext uri="{FF2B5EF4-FFF2-40B4-BE49-F238E27FC236}">
                    <a16:creationId xmlns:a16="http://schemas.microsoft.com/office/drawing/2014/main" id="{40490471-19A6-FB42-6245-CADA04481958}"/>
                  </a:ext>
                </a:extLst>
              </p:cNvPr>
              <p:cNvSpPr/>
              <p:nvPr/>
            </p:nvSpPr>
            <p:spPr>
              <a:xfrm>
                <a:off x="4207372" y="3042275"/>
                <a:ext cx="1891869" cy="62217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TTA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changed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Flowchart: Alternate Process 9">
                <a:extLst>
                  <a:ext uri="{FF2B5EF4-FFF2-40B4-BE49-F238E27FC236}">
                    <a16:creationId xmlns:a16="http://schemas.microsoft.com/office/drawing/2014/main" id="{4985332C-08B6-3E9B-5771-E44B6809A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372" y="3042275"/>
                <a:ext cx="1891869" cy="622177"/>
              </a:xfrm>
              <a:prstGeom prst="flowChartAlternateProcess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D85B1391-29DF-818A-F853-81BC6DFE8325}"/>
              </a:ext>
            </a:extLst>
          </p:cNvPr>
          <p:cNvSpPr/>
          <p:nvPr/>
        </p:nvSpPr>
        <p:spPr>
          <a:xfrm>
            <a:off x="7251509" y="1787900"/>
            <a:ext cx="1557866" cy="48118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Precompute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CC9A36-0D71-2519-4E90-9C26A31C18F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1768461" y="4236631"/>
            <a:ext cx="11668" cy="118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55CE1C-4310-D76A-2E97-99F288C9CAB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5153307" y="1957470"/>
            <a:ext cx="3610" cy="323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F10B4F-80CC-4B4F-498D-787AC4C42D3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153307" y="2718541"/>
            <a:ext cx="0" cy="323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Flowchart: Alternate Process 36">
                <a:extLst>
                  <a:ext uri="{FF2B5EF4-FFF2-40B4-BE49-F238E27FC236}">
                    <a16:creationId xmlns:a16="http://schemas.microsoft.com/office/drawing/2014/main" id="{BF98DAA6-BDC6-F66E-9463-1EB9DBBC37D3}"/>
                  </a:ext>
                </a:extLst>
              </p:cNvPr>
              <p:cNvSpPr/>
              <p:nvPr/>
            </p:nvSpPr>
            <p:spPr>
              <a:xfrm>
                <a:off x="4416276" y="5418592"/>
                <a:ext cx="1433633" cy="601208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7" name="Flowchart: Alternate Process 36">
                <a:extLst>
                  <a:ext uri="{FF2B5EF4-FFF2-40B4-BE49-F238E27FC236}">
                    <a16:creationId xmlns:a16="http://schemas.microsoft.com/office/drawing/2014/main" id="{42834C0D-867F-7385-F615-4EB1EB617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276" y="5418592"/>
                <a:ext cx="1433633" cy="601208"/>
              </a:xfrm>
              <a:prstGeom prst="flowChartAlternateProcess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Flowchart: Alternate Process 37">
                <a:extLst>
                  <a:ext uri="{FF2B5EF4-FFF2-40B4-BE49-F238E27FC236}">
                    <a16:creationId xmlns:a16="http://schemas.microsoft.com/office/drawing/2014/main" id="{18FA445C-E082-CF1A-A266-3694EAEC4696}"/>
                  </a:ext>
                </a:extLst>
              </p:cNvPr>
              <p:cNvSpPr/>
              <p:nvPr/>
            </p:nvSpPr>
            <p:spPr>
              <a:xfrm>
                <a:off x="4203518" y="4382323"/>
                <a:ext cx="1891869" cy="501266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Flowchart: Alternate Process 37">
                <a:extLst>
                  <a:ext uri="{FF2B5EF4-FFF2-40B4-BE49-F238E27FC236}">
                    <a16:creationId xmlns:a16="http://schemas.microsoft.com/office/drawing/2014/main" id="{44C99575-3B56-BF34-1049-14DF8893D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18" y="4382323"/>
                <a:ext cx="1891869" cy="501266"/>
              </a:xfrm>
              <a:prstGeom prst="flowChartAlternateProcess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Flowchart: Magnetic Disk 45">
                <a:extLst>
                  <a:ext uri="{FF2B5EF4-FFF2-40B4-BE49-F238E27FC236}">
                    <a16:creationId xmlns:a16="http://schemas.microsoft.com/office/drawing/2014/main" id="{2B6704F2-02BD-4FB3-A4FF-12FFF798E39C}"/>
                  </a:ext>
                </a:extLst>
              </p:cNvPr>
              <p:cNvSpPr/>
              <p:nvPr/>
            </p:nvSpPr>
            <p:spPr>
              <a:xfrm>
                <a:off x="9393068" y="1778099"/>
                <a:ext cx="1547196" cy="481186"/>
              </a:xfrm>
              <a:prstGeom prst="flowChartMagneticDisk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6" name="Flowchart: Magnetic Disk 45">
                <a:extLst>
                  <a:ext uri="{FF2B5EF4-FFF2-40B4-BE49-F238E27FC236}">
                    <a16:creationId xmlns:a16="http://schemas.microsoft.com/office/drawing/2014/main" id="{A33EB27E-8529-BF87-EBDD-67465AB0D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068" y="1778099"/>
                <a:ext cx="1547196" cy="481186"/>
              </a:xfrm>
              <a:prstGeom prst="flowChartMagneticDisk">
                <a:avLst/>
              </a:prstGeom>
              <a:blipFill>
                <a:blip r:embed="rId11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5850768E-A6E9-77D4-494E-4FC05D3EA187}"/>
              </a:ext>
            </a:extLst>
          </p:cNvPr>
          <p:cNvSpPr txBox="1"/>
          <p:nvPr/>
        </p:nvSpPr>
        <p:spPr>
          <a:xfrm>
            <a:off x="797378" y="370539"/>
            <a:ext cx="2124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S</a:t>
            </a:r>
            <a:r>
              <a:rPr lang="en-US" altLang="zh-CN" sz="3200" b="1" dirty="0">
                <a:latin typeface="+mj-lt"/>
              </a:rPr>
              <a:t>tatic</a:t>
            </a:r>
            <a:r>
              <a:rPr lang="en-US" altLang="zh-CN" sz="3200" dirty="0">
                <a:latin typeface="+mj-lt"/>
              </a:rPr>
              <a:t> LLM</a:t>
            </a:r>
            <a:endParaRPr lang="en-US" sz="3200" dirty="0">
              <a:latin typeface="+mj-lt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F7D661E-A680-10BE-F133-9A504BACAF01}"/>
              </a:ext>
            </a:extLst>
          </p:cNvPr>
          <p:cNvSpPr txBox="1"/>
          <p:nvPr/>
        </p:nvSpPr>
        <p:spPr>
          <a:xfrm>
            <a:off x="3885395" y="339039"/>
            <a:ext cx="2629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</a:t>
            </a:r>
            <a:r>
              <a:rPr lang="en-US" altLang="zh-CN" sz="3200" b="1" dirty="0"/>
              <a:t>rior TTA </a:t>
            </a:r>
            <a:r>
              <a:rPr lang="en-US" altLang="zh-CN" sz="3200" dirty="0"/>
              <a:t>LLM</a:t>
            </a:r>
            <a:endParaRPr lang="en-US" sz="3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919F63-ADA5-6C9E-40C2-6DDB354A77DD}"/>
              </a:ext>
            </a:extLst>
          </p:cNvPr>
          <p:cNvSpPr txBox="1"/>
          <p:nvPr/>
        </p:nvSpPr>
        <p:spPr>
          <a:xfrm>
            <a:off x="8170436" y="371327"/>
            <a:ext cx="2551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CAP-TTA</a:t>
            </a:r>
            <a:r>
              <a:rPr lang="en-US" sz="3200" dirty="0"/>
              <a:t> LLM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B9BC345-8BDF-3269-15AD-4A0036FFB39A}"/>
              </a:ext>
            </a:extLst>
          </p:cNvPr>
          <p:cNvCxnSpPr>
            <a:cxnSpLocks/>
          </p:cNvCxnSpPr>
          <p:nvPr/>
        </p:nvCxnSpPr>
        <p:spPr>
          <a:xfrm>
            <a:off x="3276600" y="370539"/>
            <a:ext cx="0" cy="61318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05E6A83-00E4-C333-038D-ECA0EB5CBA10}"/>
              </a:ext>
            </a:extLst>
          </p:cNvPr>
          <p:cNvCxnSpPr>
            <a:cxnSpLocks/>
          </p:cNvCxnSpPr>
          <p:nvPr/>
        </p:nvCxnSpPr>
        <p:spPr>
          <a:xfrm>
            <a:off x="6731000" y="370563"/>
            <a:ext cx="0" cy="61318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A607BC4F-56A4-1038-551A-133E94C552E8}"/>
              </a:ext>
            </a:extLst>
          </p:cNvPr>
          <p:cNvCxnSpPr>
            <a:stCxn id="38" idx="1"/>
            <a:endCxn id="10" idx="1"/>
          </p:cNvCxnSpPr>
          <p:nvPr/>
        </p:nvCxnSpPr>
        <p:spPr>
          <a:xfrm rot="10800000" flipH="1">
            <a:off x="4203518" y="3353364"/>
            <a:ext cx="3854" cy="1279592"/>
          </a:xfrm>
          <a:prstGeom prst="bentConnector3">
            <a:avLst>
              <a:gd name="adj1" fmla="val -59315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0DD1F98D-C612-9164-293C-28073639538D}"/>
              </a:ext>
            </a:extLst>
          </p:cNvPr>
          <p:cNvCxnSpPr>
            <a:stCxn id="10" idx="2"/>
            <a:endCxn id="38" idx="0"/>
          </p:cNvCxnSpPr>
          <p:nvPr/>
        </p:nvCxnSpPr>
        <p:spPr>
          <a:xfrm flipH="1">
            <a:off x="5149453" y="3664452"/>
            <a:ext cx="3854" cy="7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67F72975-8BE5-E365-98B1-F6F1094083F4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1780129" y="2891264"/>
            <a:ext cx="1" cy="908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3CC790D3-2A27-A3B3-EDD6-DFD54D3DB2F9}"/>
              </a:ext>
            </a:extLst>
          </p:cNvPr>
          <p:cNvCxnSpPr>
            <a:stCxn id="6" idx="2"/>
            <a:endCxn id="4" idx="0"/>
          </p:cNvCxnSpPr>
          <p:nvPr/>
        </p:nvCxnSpPr>
        <p:spPr>
          <a:xfrm flipH="1">
            <a:off x="1780130" y="1962131"/>
            <a:ext cx="6964" cy="306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24CD757A-3FDA-A09E-4B24-8637CB28372C}"/>
              </a:ext>
            </a:extLst>
          </p:cNvPr>
          <p:cNvCxnSpPr/>
          <p:nvPr/>
        </p:nvCxnSpPr>
        <p:spPr>
          <a:xfrm>
            <a:off x="7399867" y="2499872"/>
            <a:ext cx="3810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EF763B83-11ED-D05B-A5B6-BD0741A5662C}"/>
              </a:ext>
            </a:extLst>
          </p:cNvPr>
          <p:cNvSpPr txBox="1"/>
          <p:nvPr/>
        </p:nvSpPr>
        <p:spPr>
          <a:xfrm>
            <a:off x="8809375" y="129934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Offline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F907AAC-C9B6-0F46-48C6-E7102456A638}"/>
              </a:ext>
            </a:extLst>
          </p:cNvPr>
          <p:cNvCxnSpPr>
            <a:cxnSpLocks/>
            <a:stCxn id="11" idx="3"/>
            <a:endCxn id="46" idx="2"/>
          </p:cNvCxnSpPr>
          <p:nvPr/>
        </p:nvCxnSpPr>
        <p:spPr>
          <a:xfrm flipV="1">
            <a:off x="8809375" y="2018692"/>
            <a:ext cx="583693" cy="9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Flowchart: Alternate Process 218">
                <a:extLst>
                  <a:ext uri="{FF2B5EF4-FFF2-40B4-BE49-F238E27FC236}">
                    <a16:creationId xmlns:a16="http://schemas.microsoft.com/office/drawing/2014/main" id="{B3491935-53C0-F62A-F938-3B9AB63AD9B8}"/>
                  </a:ext>
                </a:extLst>
              </p:cNvPr>
              <p:cNvSpPr/>
              <p:nvPr/>
            </p:nvSpPr>
            <p:spPr>
              <a:xfrm>
                <a:off x="7316466" y="4261425"/>
                <a:ext cx="1480042" cy="74306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Bias Trigger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𝑆𝑐𝑜𝑟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9" name="Flowchart: Alternate Process 218">
                <a:extLst>
                  <a:ext uri="{FF2B5EF4-FFF2-40B4-BE49-F238E27FC236}">
                    <a16:creationId xmlns:a16="http://schemas.microsoft.com/office/drawing/2014/main" id="{52CB27A4-DA95-9555-A689-1CCEBCF23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66" y="4261425"/>
                <a:ext cx="1480042" cy="743061"/>
              </a:xfrm>
              <a:prstGeom prst="flowChartAlternateProcess">
                <a:avLst/>
              </a:prstGeom>
              <a:blipFill>
                <a:blip r:embed="rId12"/>
                <a:stretch>
                  <a:fillRect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Flowchart: Alternate Process 226">
            <a:extLst>
              <a:ext uri="{FF2B5EF4-FFF2-40B4-BE49-F238E27FC236}">
                <a16:creationId xmlns:a16="http://schemas.microsoft.com/office/drawing/2014/main" id="{A84E0E8D-6CE7-338D-45D9-3A73C8069E94}"/>
              </a:ext>
            </a:extLst>
          </p:cNvPr>
          <p:cNvSpPr/>
          <p:nvPr/>
        </p:nvSpPr>
        <p:spPr>
          <a:xfrm>
            <a:off x="9115693" y="4346865"/>
            <a:ext cx="2167013" cy="572181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Quick Adaptation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8BC645E-F9B4-677D-48EC-7DFDC02C2D4C}"/>
              </a:ext>
            </a:extLst>
          </p:cNvPr>
          <p:cNvCxnSpPr>
            <a:cxnSpLocks/>
            <a:stCxn id="38" idx="3"/>
            <a:endCxn id="219" idx="1"/>
          </p:cNvCxnSpPr>
          <p:nvPr/>
        </p:nvCxnSpPr>
        <p:spPr>
          <a:xfrm>
            <a:off x="6095387" y="4632956"/>
            <a:ext cx="1221079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Flowchart: Alternate Process 270">
                <a:extLst>
                  <a:ext uri="{FF2B5EF4-FFF2-40B4-BE49-F238E27FC236}">
                    <a16:creationId xmlns:a16="http://schemas.microsoft.com/office/drawing/2014/main" id="{48A0D909-8AF0-CA1D-FC71-7D7D202AE4F6}"/>
                  </a:ext>
                </a:extLst>
              </p:cNvPr>
              <p:cNvSpPr/>
              <p:nvPr/>
            </p:nvSpPr>
            <p:spPr>
              <a:xfrm>
                <a:off x="7286082" y="3015066"/>
                <a:ext cx="1480042" cy="68312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Bias Router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𝐶𝑙𝑎𝑠𝑠𝑖𝑓𝑖𝑒𝑟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Flowchart: Alternate Process 270">
                <a:extLst>
                  <a:ext uri="{FF2B5EF4-FFF2-40B4-BE49-F238E27FC236}">
                    <a16:creationId xmlns:a16="http://schemas.microsoft.com/office/drawing/2014/main" id="{FA29B047-CAAC-F6D0-732C-86A5E40BED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082" y="3015066"/>
                <a:ext cx="1480042" cy="683121"/>
              </a:xfrm>
              <a:prstGeom prst="flowChartAlternateProcess">
                <a:avLst/>
              </a:prstGeom>
              <a:blipFill>
                <a:blip r:embed="rId13"/>
                <a:stretch>
                  <a:fillRect b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A37878C-F810-04A5-FC6C-594D18465A95}"/>
              </a:ext>
            </a:extLst>
          </p:cNvPr>
          <p:cNvCxnSpPr>
            <a:stCxn id="38" idx="3"/>
            <a:endCxn id="271" idx="1"/>
          </p:cNvCxnSpPr>
          <p:nvPr/>
        </p:nvCxnSpPr>
        <p:spPr>
          <a:xfrm flipV="1">
            <a:off x="6095387" y="3356627"/>
            <a:ext cx="1190695" cy="127632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0" name="Connector: Elbow 289">
            <a:extLst>
              <a:ext uri="{FF2B5EF4-FFF2-40B4-BE49-F238E27FC236}">
                <a16:creationId xmlns:a16="http://schemas.microsoft.com/office/drawing/2014/main" id="{B3E67BEE-1FC0-A1D2-8FB3-BD9AC5B6928B}"/>
              </a:ext>
            </a:extLst>
          </p:cNvPr>
          <p:cNvCxnSpPr>
            <a:cxnSpLocks/>
          </p:cNvCxnSpPr>
          <p:nvPr/>
        </p:nvCxnSpPr>
        <p:spPr>
          <a:xfrm rot="5400000" flipH="1">
            <a:off x="7716689" y="2376247"/>
            <a:ext cx="26223" cy="5059374"/>
          </a:xfrm>
          <a:prstGeom prst="bentConnector3">
            <a:avLst>
              <a:gd name="adj1" fmla="val -87175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1800374C-E3C4-BBBA-E634-1861828463BC}"/>
              </a:ext>
            </a:extLst>
          </p:cNvPr>
          <p:cNvCxnSpPr>
            <a:stCxn id="271" idx="3"/>
            <a:endCxn id="228" idx="1"/>
          </p:cNvCxnSpPr>
          <p:nvPr/>
        </p:nvCxnSpPr>
        <p:spPr>
          <a:xfrm flipV="1">
            <a:off x="8766124" y="3353363"/>
            <a:ext cx="335769" cy="3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4B00C847-D645-8451-825E-ECE275063D05}"/>
              </a:ext>
            </a:extLst>
          </p:cNvPr>
          <p:cNvCxnSpPr>
            <a:stCxn id="219" idx="3"/>
            <a:endCxn id="227" idx="1"/>
          </p:cNvCxnSpPr>
          <p:nvPr/>
        </p:nvCxnSpPr>
        <p:spPr>
          <a:xfrm>
            <a:off x="8796508" y="4632956"/>
            <a:ext cx="3191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3DE28167-4110-79E9-C415-32BEF02CD300}"/>
              </a:ext>
            </a:extLst>
          </p:cNvPr>
          <p:cNvCxnSpPr>
            <a:cxnSpLocks/>
            <a:stCxn id="228" idx="2"/>
            <a:endCxn id="227" idx="0"/>
          </p:cNvCxnSpPr>
          <p:nvPr/>
        </p:nvCxnSpPr>
        <p:spPr>
          <a:xfrm>
            <a:off x="10185400" y="3675790"/>
            <a:ext cx="13800" cy="67107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1" name="Connector: Elbow 310">
            <a:extLst>
              <a:ext uri="{FF2B5EF4-FFF2-40B4-BE49-F238E27FC236}">
                <a16:creationId xmlns:a16="http://schemas.microsoft.com/office/drawing/2014/main" id="{020EBD7E-16AE-B0C7-3AAA-55F4F8CAB0EA}"/>
              </a:ext>
            </a:extLst>
          </p:cNvPr>
          <p:cNvCxnSpPr>
            <a:cxnSpLocks/>
            <a:endCxn id="227" idx="3"/>
          </p:cNvCxnSpPr>
          <p:nvPr/>
        </p:nvCxnSpPr>
        <p:spPr>
          <a:xfrm rot="16200000" flipH="1">
            <a:off x="9813722" y="3163972"/>
            <a:ext cx="2614262" cy="323706"/>
          </a:xfrm>
          <a:prstGeom prst="bentConnector4">
            <a:avLst>
              <a:gd name="adj1" fmla="val -165"/>
              <a:gd name="adj2" fmla="val 1706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23152E49-5583-D19F-3465-8C6073F5E077}"/>
              </a:ext>
            </a:extLst>
          </p:cNvPr>
          <p:cNvSpPr txBox="1"/>
          <p:nvPr/>
        </p:nvSpPr>
        <p:spPr>
          <a:xfrm>
            <a:off x="8796926" y="2582589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Online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FF604D-D1C2-C326-DD10-87FE4046FB62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5133093" y="4890261"/>
            <a:ext cx="4091" cy="52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32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84DA-C841-0412-5967-32E3E7DE8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26" y="95309"/>
            <a:ext cx="2214091" cy="663158"/>
          </a:xfrm>
        </p:spPr>
        <p:txBody>
          <a:bodyPr/>
          <a:lstStyle/>
          <a:p>
            <a:r>
              <a:rPr lang="en-US" sz="4000" b="1" dirty="0"/>
              <a:t>Algorithm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AB1A96-598F-27E7-B948-70FAAA007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696" y="1127637"/>
            <a:ext cx="10988500" cy="536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76AC-46F6-EBC1-0F2F-3C9044E9F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" y="174592"/>
            <a:ext cx="9141886" cy="706972"/>
          </a:xfrm>
        </p:spPr>
        <p:txBody>
          <a:bodyPr/>
          <a:lstStyle/>
          <a:p>
            <a:r>
              <a:rPr lang="en-US" sz="4000" b="1" dirty="0"/>
              <a:t>Result: B</a:t>
            </a:r>
            <a:r>
              <a:rPr lang="en-US" altLang="zh-CN" sz="4000" b="1" dirty="0"/>
              <a:t>ias Score Trending Before and After</a:t>
            </a:r>
            <a:endParaRPr 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47D90-C242-E741-E560-872048B28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9" y="1998584"/>
            <a:ext cx="3859619" cy="868132"/>
          </a:xfrm>
        </p:spPr>
        <p:txBody>
          <a:bodyPr/>
          <a:lstStyle/>
          <a:p>
            <a:r>
              <a:rPr lang="en-US" dirty="0"/>
              <a:t>Before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C96EC-DFE2-DCEA-7AE2-0CBA7F25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6" y="2662343"/>
            <a:ext cx="5175811" cy="3878659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A560B-4F7E-CE5F-0B4E-961D65B1D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294" y="2603864"/>
            <a:ext cx="5034988" cy="3937138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777473-C43D-16BB-4276-4DC85E3812F2}"/>
              </a:ext>
            </a:extLst>
          </p:cNvPr>
          <p:cNvSpPr txBox="1"/>
          <p:nvPr/>
        </p:nvSpPr>
        <p:spPr>
          <a:xfrm>
            <a:off x="8732165" y="1970985"/>
            <a:ext cx="1700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0FA18-8BE4-BB04-8F36-3204089D3C52}"/>
              </a:ext>
            </a:extLst>
          </p:cNvPr>
          <p:cNvSpPr txBox="1"/>
          <p:nvPr/>
        </p:nvSpPr>
        <p:spPr>
          <a:xfrm>
            <a:off x="415790" y="1213443"/>
            <a:ext cx="105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CAP-TTA reduce the overall bias in output, and change its </a:t>
            </a:r>
            <a:r>
              <a:rPr lang="en-US" sz="2000" dirty="0">
                <a:solidFill>
                  <a:schemeClr val="accent1"/>
                </a:solidFill>
              </a:rPr>
              <a:t>trending</a:t>
            </a:r>
            <a:r>
              <a:rPr lang="en-US" sz="2000" dirty="0"/>
              <a:t> over segment per 128 tokens.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20C104A-351A-0C1D-0EC4-185775933307}"/>
              </a:ext>
            </a:extLst>
          </p:cNvPr>
          <p:cNvSpPr/>
          <p:nvPr/>
        </p:nvSpPr>
        <p:spPr>
          <a:xfrm>
            <a:off x="5701917" y="4147557"/>
            <a:ext cx="648586" cy="22328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1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BA80CA-E869-EC9D-559B-A8CA38160F3B}"/>
              </a:ext>
            </a:extLst>
          </p:cNvPr>
          <p:cNvSpPr txBox="1"/>
          <p:nvPr/>
        </p:nvSpPr>
        <p:spPr>
          <a:xfrm>
            <a:off x="0" y="202366"/>
            <a:ext cx="9715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Result: Bias Score, Fluency and Update Latency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15F48-6D5A-0C3C-A05D-0D1BF1B65729}"/>
              </a:ext>
            </a:extLst>
          </p:cNvPr>
          <p:cNvSpPr txBox="1"/>
          <p:nvPr/>
        </p:nvSpPr>
        <p:spPr>
          <a:xfrm>
            <a:off x="430674" y="1161083"/>
            <a:ext cx="101327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CAP-TTA has </a:t>
            </a:r>
            <a:r>
              <a:rPr lang="en-US" sz="2000" i="0" dirty="0">
                <a:solidFill>
                  <a:schemeClr val="accent1"/>
                </a:solidFill>
              </a:rPr>
              <a:t>lower bias score and higher fluency </a:t>
            </a:r>
            <a:r>
              <a:rPr lang="en-US" sz="2000" i="0" dirty="0"/>
              <a:t>under safety-first hyperparameters, compared to self-correction 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CAP-TTA has </a:t>
            </a:r>
            <a:r>
              <a:rPr lang="en-US" sz="2000" dirty="0">
                <a:solidFill>
                  <a:srgbClr val="FF0000"/>
                </a:solidFill>
              </a:rPr>
              <a:t>much lower test time update times</a:t>
            </a:r>
            <a:r>
              <a:rPr lang="en-US" sz="2000" dirty="0"/>
              <a:t>, compared to SGD and </a:t>
            </a:r>
            <a:r>
              <a:rPr lang="en-US" sz="2000" dirty="0" err="1"/>
              <a:t>AdamW</a:t>
            </a:r>
            <a:r>
              <a:rPr lang="en-US" sz="2000" dirty="0"/>
              <a:t> in </a:t>
            </a:r>
            <a:r>
              <a:rPr lang="en-US" sz="2000" dirty="0" err="1"/>
              <a:t>LoRA</a:t>
            </a:r>
            <a:r>
              <a:rPr lang="en-US" sz="2000" dirty="0"/>
              <a:t>. </a:t>
            </a:r>
          </a:p>
          <a:p>
            <a:endParaRPr lang="en-US" sz="2000" i="0" dirty="0"/>
          </a:p>
          <a:p>
            <a:endParaRPr lang="en-US" sz="2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F3FD32-C0F5-17B0-4876-D38C2608F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573" y="2735101"/>
            <a:ext cx="10877911" cy="3104982"/>
          </a:xfrm>
          <a:prstGeom prst="rect">
            <a:avLst/>
          </a:prstGeom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3F0F76-976C-6944-F293-CDFF6B38E917}"/>
              </a:ext>
            </a:extLst>
          </p:cNvPr>
          <p:cNvSpPr/>
          <p:nvPr/>
        </p:nvSpPr>
        <p:spPr>
          <a:xfrm>
            <a:off x="521573" y="5334361"/>
            <a:ext cx="8644404" cy="341315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F1E32-8E25-47EC-D4BB-3D4CB61F37DC}"/>
              </a:ext>
            </a:extLst>
          </p:cNvPr>
          <p:cNvSpPr/>
          <p:nvPr/>
        </p:nvSpPr>
        <p:spPr>
          <a:xfrm>
            <a:off x="10249784" y="4490492"/>
            <a:ext cx="627321" cy="12162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8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2522-1092-10DE-8D47-0F9950840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FEAA8-FAD0-AF6C-2C62-5E90D359C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634" y="3510199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B2E9F-0615-C785-5FDC-4518CBD3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71" y="2445274"/>
            <a:ext cx="10321033" cy="3381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D01E0-4A0B-8789-218B-3A5C531F11B5}"/>
              </a:ext>
            </a:extLst>
          </p:cNvPr>
          <p:cNvSpPr txBox="1"/>
          <p:nvPr/>
        </p:nvSpPr>
        <p:spPr>
          <a:xfrm>
            <a:off x="9633" y="131787"/>
            <a:ext cx="1144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+mj-lt"/>
              </a:rPr>
              <a:t>Result: Thresholds, Segment Lengths and </a:t>
            </a:r>
            <a:r>
              <a:rPr lang="en-US" sz="4000" b="1" dirty="0" err="1">
                <a:latin typeface="+mj-lt"/>
              </a:rPr>
              <a:t>Tirgger</a:t>
            </a:r>
            <a:r>
              <a:rPr lang="en-US" sz="4000" b="1" dirty="0">
                <a:latin typeface="+mj-lt"/>
              </a:rPr>
              <a:t>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EFFC3-B948-75BA-7652-6E71E1B2D05A}"/>
              </a:ext>
            </a:extLst>
          </p:cNvPr>
          <p:cNvSpPr txBox="1"/>
          <p:nvPr/>
        </p:nvSpPr>
        <p:spPr>
          <a:xfrm>
            <a:off x="511480" y="1165752"/>
            <a:ext cx="10244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CAP-TTA performs well on </a:t>
            </a:r>
            <a:r>
              <a:rPr lang="en-US" sz="2000" dirty="0">
                <a:solidFill>
                  <a:srgbClr val="FF0000"/>
                </a:solidFill>
              </a:rPr>
              <a:t>long narrative generation</a:t>
            </a:r>
            <a:r>
              <a:rPr lang="en-US" sz="2000" dirty="0"/>
              <a:t>, and </a:t>
            </a:r>
            <a:r>
              <a:rPr lang="en-US" sz="2000" dirty="0">
                <a:solidFill>
                  <a:schemeClr val="accent1"/>
                </a:solidFill>
              </a:rPr>
              <a:t>each segment should be slightly longer</a:t>
            </a:r>
            <a:r>
              <a:rPr lang="en-US" sz="2000" dirty="0"/>
              <a:t>. 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3248FC1-FA66-6C97-B504-8973F1114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20" y="2354270"/>
            <a:ext cx="10662627" cy="33813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3197FD-5F68-B06A-B0A3-F971C34BFA2A}"/>
              </a:ext>
            </a:extLst>
          </p:cNvPr>
          <p:cNvSpPr/>
          <p:nvPr/>
        </p:nvSpPr>
        <p:spPr>
          <a:xfrm>
            <a:off x="839254" y="3777453"/>
            <a:ext cx="6503215" cy="164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01FE19-B081-2443-EB9D-592047E8F44C}"/>
              </a:ext>
            </a:extLst>
          </p:cNvPr>
          <p:cNvSpPr/>
          <p:nvPr/>
        </p:nvSpPr>
        <p:spPr>
          <a:xfrm>
            <a:off x="839254" y="4048805"/>
            <a:ext cx="6503215" cy="20012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4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7E4B7-F03A-184A-871A-9C5CFE34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448154F-3B99-0824-B67C-05C91CA2BBDB}"/>
              </a:ext>
            </a:extLst>
          </p:cNvPr>
          <p:cNvSpPr/>
          <p:nvPr/>
        </p:nvSpPr>
        <p:spPr>
          <a:xfrm>
            <a:off x="52043" y="56246"/>
            <a:ext cx="9844617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+mj-lt"/>
                <a:ea typeface="Georgia" panose="02040502050405020303" pitchFamily="34" charset="-122"/>
                <a:cs typeface="Georgia" panose="02040502050405020303" pitchFamily="34" charset="-120"/>
              </a:rPr>
              <a:t>Human Evaluations to Validate Debiased Output</a:t>
            </a:r>
            <a:endParaRPr lang="en-US" sz="4000" b="1" dirty="0">
              <a:latin typeface="+mj-lt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F1DEF03-9728-C194-47D5-39570DC41A8B}"/>
              </a:ext>
            </a:extLst>
          </p:cNvPr>
          <p:cNvSpPr/>
          <p:nvPr/>
        </p:nvSpPr>
        <p:spPr>
          <a:xfrm>
            <a:off x="3643777" y="61196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ea typeface="Georgia" panose="02040502050405020303" pitchFamily="34" charset="-122"/>
                <a:cs typeface="Georgia" panose="02040502050405020303" pitchFamily="34" charset="-120"/>
              </a:rPr>
              <a:t>% items flagged as biased (≥3 of 5 annotators)</a:t>
            </a:r>
            <a:endParaRPr lang="en-US" sz="2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8C4AB96-2475-35E7-3E47-0ECC2B7EF12C}"/>
              </a:ext>
            </a:extLst>
          </p:cNvPr>
          <p:cNvSpPr/>
          <p:nvPr/>
        </p:nvSpPr>
        <p:spPr>
          <a:xfrm>
            <a:off x="5897880" y="565875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3A9C815-779F-E53A-0B94-D6017A56A0D1}"/>
              </a:ext>
            </a:extLst>
          </p:cNvPr>
          <p:cNvSpPr/>
          <p:nvPr/>
        </p:nvSpPr>
        <p:spPr>
          <a:xfrm>
            <a:off x="11247120" y="620739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BB2A5-70CA-E4F7-EEF8-B9DA2BD0B235}"/>
              </a:ext>
            </a:extLst>
          </p:cNvPr>
          <p:cNvSpPr txBox="1"/>
          <p:nvPr/>
        </p:nvSpPr>
        <p:spPr>
          <a:xfrm>
            <a:off x="508038" y="1097999"/>
            <a:ext cx="1096768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design the survey </a:t>
            </a:r>
            <a:r>
              <a:rPr lang="en-US" altLang="zh-CN" sz="2000" dirty="0"/>
              <a:t>asking</a:t>
            </a:r>
            <a:r>
              <a:rPr lang="en-US" sz="2000" dirty="0"/>
              <a:t> participants to judge whether the </a:t>
            </a:r>
            <a:r>
              <a:rPr lang="zh-CN" altLang="en-US" sz="2000" dirty="0"/>
              <a:t>‘</a:t>
            </a:r>
            <a:r>
              <a:rPr lang="en-US" sz="2000" dirty="0"/>
              <a:t>debiased outputs</a:t>
            </a:r>
            <a:r>
              <a:rPr lang="zh-CN" altLang="en-US" sz="2000" dirty="0"/>
              <a:t>’</a:t>
            </a:r>
            <a:r>
              <a:rPr lang="en-US" sz="2000" dirty="0"/>
              <a:t> are biased or not. </a:t>
            </a:r>
          </a:p>
          <a:p>
            <a:r>
              <a:rPr lang="en-US" sz="1400" dirty="0">
                <a:solidFill>
                  <a:schemeClr val="tx2"/>
                </a:solidFill>
              </a:rPr>
              <a:t>Survey content and style have been approved by IRB.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2B587-ED5A-15D3-5854-27A450C8BBDB}"/>
              </a:ext>
            </a:extLst>
          </p:cNvPr>
          <p:cNvSpPr txBox="1"/>
          <p:nvPr/>
        </p:nvSpPr>
        <p:spPr>
          <a:xfrm>
            <a:off x="508038" y="4114302"/>
            <a:ext cx="10294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result (20 valid datapoints from 31 participants) validate the effect of CAP-TTA.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F1FC6DF-B68A-2606-6334-4068042DD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5801" y="1874909"/>
            <a:ext cx="8504158" cy="217342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2DD93C5-11A8-0BDC-F2C9-05FD69113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8024" y="4675769"/>
            <a:ext cx="6200860" cy="125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1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B7D565-BB28-88DF-435C-803B5358A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dirty="0">
                <a:solidFill>
                  <a:schemeClr val="accent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Paper · Code · Cached prompts</a:t>
            </a:r>
            <a:endParaRPr lang="en-US" dirty="0">
              <a:solidFill>
                <a:schemeClr val="accent1"/>
              </a:solidFill>
            </a:endParaRPr>
          </a:p>
          <a:p>
            <a:pPr>
              <a:spcAft>
                <a:spcPts val="400"/>
              </a:spcAft>
            </a:pPr>
            <a:r>
              <a:rPr lang="en-US" b="1" dirty="0">
                <a:solidFill>
                  <a:schemeClr val="accent1"/>
                </a:solidFill>
                <a:ea typeface="Consolas" panose="020B0609020204030204" pitchFamily="34" charset="-122"/>
                <a:cs typeface="Consolas" panose="020B0609020204030204" pitchFamily="34" charset="-120"/>
              </a:rPr>
              <a:t>github.com/hshen13/</a:t>
            </a:r>
            <a:r>
              <a:rPr lang="en-US" b="1" dirty="0" err="1">
                <a:solidFill>
                  <a:schemeClr val="accent1"/>
                </a:solidFill>
                <a:ea typeface="Consolas" panose="020B0609020204030204" pitchFamily="34" charset="-122"/>
                <a:cs typeface="Consolas" panose="020B0609020204030204" pitchFamily="34" charset="-120"/>
              </a:rPr>
              <a:t>debias_tta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42CA34-503E-14F7-6F66-F5D39E55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E2A25-667B-B3BE-6714-AF00408FCA70}"/>
              </a:ext>
            </a:extLst>
          </p:cNvPr>
          <p:cNvSpPr txBox="1"/>
          <p:nvPr/>
        </p:nvSpPr>
        <p:spPr>
          <a:xfrm>
            <a:off x="3214577" y="611933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ea typeface="Calibri" panose="020F0502020204030204" pitchFamily="34" charset="-122"/>
                <a:cs typeface="Calibri" panose="020F0502020204030204" pitchFamily="34" charset="-120"/>
              </a:rPr>
              <a:t>Hanwen Shen, Ting Ying, </a:t>
            </a:r>
            <a:r>
              <a:rPr lang="en-US" sz="1800" dirty="0" err="1">
                <a:ea typeface="Calibri" panose="020F0502020204030204" pitchFamily="34" charset="-122"/>
                <a:cs typeface="Calibri" panose="020F0502020204030204" pitchFamily="34" charset="-120"/>
              </a:rPr>
              <a:t>Jiajie</a:t>
            </a:r>
            <a:r>
              <a:rPr lang="en-US" sz="1800" dirty="0">
                <a:ea typeface="Calibri" panose="020F0502020204030204" pitchFamily="34" charset="-122"/>
                <a:cs typeface="Calibri" panose="020F0502020204030204" pitchFamily="34" charset="-120"/>
              </a:rPr>
              <a:t> Lu, Shanshan Wang  ·  ACL 2026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hs907@scarletmail.rutgers.edu, nlp2ct.shanshan@gmail.com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987742-5414-739B-94C8-927F61899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485" y="49538"/>
            <a:ext cx="2064380" cy="205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5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D31A17F54FA43BA3A952D8975AAEB" ma:contentTypeVersion="13" ma:contentTypeDescription="Create a new document." ma:contentTypeScope="" ma:versionID="24dbd87855328e31034b0fd9606ee26e">
  <xsd:schema xmlns:xsd="http://www.w3.org/2001/XMLSchema" xmlns:xs="http://www.w3.org/2001/XMLSchema" xmlns:p="http://schemas.microsoft.com/office/2006/metadata/properties" xmlns:ns3="d9a3057c-59d8-4d23-8825-83e468c46f90" xmlns:ns4="876a47f2-5fb5-46cf-952e-54d26da5dffc" targetNamespace="http://schemas.microsoft.com/office/2006/metadata/properties" ma:root="true" ma:fieldsID="3a674d93f4a2dee68d0b7412ab613fcf" ns3:_="" ns4:_="">
    <xsd:import namespace="d9a3057c-59d8-4d23-8825-83e468c46f90"/>
    <xsd:import namespace="876a47f2-5fb5-46cf-952e-54d26da5df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a3057c-59d8-4d23-8825-83e468c46f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a47f2-5fb5-46cf-952e-54d26da5d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a3057c-59d8-4d23-8825-83e468c46f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F8F6FF-E223-4197-AD26-0BB3200CD8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a3057c-59d8-4d23-8825-83e468c46f90"/>
    <ds:schemaRef ds:uri="876a47f2-5fb5-46cf-952e-54d26da5df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F9FB88-1291-47D2-9D3F-0EAB16B96266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d9a3057c-59d8-4d23-8825-83e468c46f90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76a47f2-5fb5-46cf-952e-54d26da5dffc"/>
  </ds:schemaRefs>
</ds:datastoreItem>
</file>

<file path=customXml/itemProps3.xml><?xml version="1.0" encoding="utf-8"?>
<ds:datastoreItem xmlns:ds="http://schemas.openxmlformats.org/officeDocument/2006/customXml" ds:itemID="{785E4351-1CEE-48E5-80CC-4F0C27A66E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858</Words>
  <Application>Microsoft Office PowerPoint</Application>
  <PresentationFormat>Widescreen</PresentationFormat>
  <Paragraphs>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Consolas</vt:lpstr>
      <vt:lpstr>Georgia</vt:lpstr>
      <vt:lpstr>Times New Roman</vt:lpstr>
      <vt:lpstr>Wingdings</vt:lpstr>
      <vt:lpstr>Office Theme</vt:lpstr>
      <vt:lpstr>CAP-TTA: Preconditioned Test-Time Adaptation  for Out-of-Distribution Debiasing in  Narrative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</vt:lpstr>
      <vt:lpstr>Result: Bias Score Trending Before and After</vt:lpstr>
      <vt:lpstr>PowerPoint Presentation</vt:lpstr>
      <vt:lpstr>PowerPoint Presentation</vt:lpstr>
      <vt:lpstr>PowerPoint Presentation</vt:lpstr>
      <vt:lpstr>Thank you!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CAP-TTA — ACL Talk</dc:title>
  <dc:subject>PptxGenJS Presentation</dc:subject>
  <dc:creator>Shen, Ying, Lu, Wang</dc:creator>
  <cp:lastModifiedBy>Hanwen Shen</cp:lastModifiedBy>
  <cp:revision>62</cp:revision>
  <dcterms:created xsi:type="dcterms:W3CDTF">2026-05-23T15:47:00Z</dcterms:created>
  <dcterms:modified xsi:type="dcterms:W3CDTF">2026-06-03T11:24:09Z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3409FE066FE045B49F7515645F1907A0_13</vt:lpwstr>
  </property>
  <property fmtid="{D5CDD505-2E9C-101B-9397-08002B2CF9AE}" pid="4" name="MSIP_Label_a73fd474-4f3c-44ed-88fb-5cc4bd2471bf_Enabled">
    <vt:lpwstr>true</vt:lpwstr>
  </property>
  <property fmtid="{D5CDD505-2E9C-101B-9397-08002B2CF9AE}" pid="5" name="MSIP_Label_a73fd474-4f3c-44ed-88fb-5cc4bd2471bf_SetDate">
    <vt:lpwstr>2026-06-02T11:15:45Z</vt:lpwstr>
  </property>
  <property fmtid="{D5CDD505-2E9C-101B-9397-08002B2CF9AE}" pid="6" name="MSIP_Label_a73fd474-4f3c-44ed-88fb-5cc4bd2471bf_Method">
    <vt:lpwstr>Standard</vt:lpwstr>
  </property>
  <property fmtid="{D5CDD505-2E9C-101B-9397-08002B2CF9AE}" pid="7" name="MSIP_Label_a73fd474-4f3c-44ed-88fb-5cc4bd2471bf_Name">
    <vt:lpwstr>defa4170-0d19-0005-0004-bc88714345d2</vt:lpwstr>
  </property>
  <property fmtid="{D5CDD505-2E9C-101B-9397-08002B2CF9AE}" pid="8" name="MSIP_Label_a73fd474-4f3c-44ed-88fb-5cc4bd2471bf_SiteId">
    <vt:lpwstr>8d1a69ec-03b5-4345-ae21-dad112f5fb4f</vt:lpwstr>
  </property>
  <property fmtid="{D5CDD505-2E9C-101B-9397-08002B2CF9AE}" pid="9" name="MSIP_Label_a73fd474-4f3c-44ed-88fb-5cc4bd2471bf_ActionId">
    <vt:lpwstr>8f87613f-e6ee-45a6-8e2f-f33f4ce3130c</vt:lpwstr>
  </property>
  <property fmtid="{D5CDD505-2E9C-101B-9397-08002B2CF9AE}" pid="10" name="MSIP_Label_a73fd474-4f3c-44ed-88fb-5cc4bd2471bf_ContentBits">
    <vt:lpwstr>0</vt:lpwstr>
  </property>
  <property fmtid="{D5CDD505-2E9C-101B-9397-08002B2CF9AE}" pid="11" name="MSIP_Label_a73fd474-4f3c-44ed-88fb-5cc4bd2471bf_Tag">
    <vt:lpwstr>10, 3, 0, 1</vt:lpwstr>
  </property>
  <property fmtid="{D5CDD505-2E9C-101B-9397-08002B2CF9AE}" pid="12" name="ContentTypeId">
    <vt:lpwstr>0x01010055ED31A17F54FA43BA3A952D8975AAEB</vt:lpwstr>
  </property>
</Properties>
</file>